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charts/chart39.xml" ContentType="application/vnd.openxmlformats-officedocument.drawingml.chart+xml"/>
  <Override PartName="/ppt/charts/chart4.xml" ContentType="application/vnd.openxmlformats-officedocument.drawingml.chart+xml"/>
  <Override PartName="/ppt/charts/chart40.xml" ContentType="application/vnd.openxmlformats-officedocument.drawingml.chart+xml"/>
  <Override PartName="/ppt/charts/chart41.xml" ContentType="application/vnd.openxmlformats-officedocument.drawingml.chart+xml"/>
  <Override PartName="/ppt/charts/chart42.xml" ContentType="application/vnd.openxmlformats-officedocument.drawingml.chart+xml"/>
  <Override PartName="/ppt/charts/chart43.xml" ContentType="application/vnd.openxmlformats-officedocument.drawingml.chart+xml"/>
  <Override PartName="/ppt/charts/chart44.xml" ContentType="application/vnd.openxmlformats-officedocument.drawingml.chart+xml"/>
  <Override PartName="/ppt/charts/chart45.xml" ContentType="application/vnd.openxmlformats-officedocument.drawingml.chart+xml"/>
  <Override PartName="/ppt/charts/chart46.xml" ContentType="application/vnd.openxmlformats-officedocument.drawingml.chart+xml"/>
  <Override PartName="/ppt/charts/chart47.xml" ContentType="application/vnd.openxmlformats-officedocument.drawingml.chart+xml"/>
  <Override PartName="/ppt/charts/chart48.xml" ContentType="application/vnd.openxmlformats-officedocument.drawingml.chart+xml"/>
  <Override PartName="/ppt/charts/chart49.xml" ContentType="application/vnd.openxmlformats-officedocument.drawingml.chart+xml"/>
  <Override PartName="/ppt/charts/chart5.xml" ContentType="application/vnd.openxmlformats-officedocument.drawingml.chart+xml"/>
  <Override PartName="/ppt/charts/chart50.xml" ContentType="application/vnd.openxmlformats-officedocument.drawingml.chart+xml"/>
  <Override PartName="/ppt/charts/chart51.xml" ContentType="application/vnd.openxmlformats-officedocument.drawingml.chart+xml"/>
  <Override PartName="/ppt/charts/chart52.xml" ContentType="application/vnd.openxmlformats-officedocument.drawingml.chart+xml"/>
  <Override PartName="/ppt/charts/chart53.xml" ContentType="application/vnd.openxmlformats-officedocument.drawingml.chart+xml"/>
  <Override PartName="/ppt/charts/chart54.xml" ContentType="application/vnd.openxmlformats-officedocument.drawingml.chart+xml"/>
  <Override PartName="/ppt/charts/chart55.xml" ContentType="application/vnd.openxmlformats-officedocument.drawingml.chart+xml"/>
  <Override PartName="/ppt/charts/chart56.xml" ContentType="application/vnd.openxmlformats-officedocument.drawingml.chart+xml"/>
  <Override PartName="/ppt/charts/chart57.xml" ContentType="application/vnd.openxmlformats-officedocument.drawingml.chart+xml"/>
  <Override PartName="/ppt/charts/chart58.xml" ContentType="application/vnd.openxmlformats-officedocument.drawingml.chart+xml"/>
  <Override PartName="/ppt/charts/chart59.xml" ContentType="application/vnd.openxmlformats-officedocument.drawingml.chart+xml"/>
  <Override PartName="/ppt/charts/chart6.xml" ContentType="application/vnd.openxmlformats-officedocument.drawingml.chart+xml"/>
  <Override PartName="/ppt/charts/chart60.xml" ContentType="application/vnd.openxmlformats-officedocument.drawingml.chart+xml"/>
  <Override PartName="/ppt/charts/chart61.xml" ContentType="application/vnd.openxmlformats-officedocument.drawingml.chart+xml"/>
  <Override PartName="/ppt/charts/chart62.xml" ContentType="application/vnd.openxmlformats-officedocument.drawingml.chart+xml"/>
  <Override PartName="/ppt/charts/chart63.xml" ContentType="application/vnd.openxmlformats-officedocument.drawingml.chart+xml"/>
  <Override PartName="/ppt/charts/chart64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5.xlsx"/></Relationships>
</file>

<file path=ppt/charts/_rels/chart2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6.xlsx"/></Relationships>
</file>

<file path=ppt/charts/_rels/chart2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7.xlsx"/></Relationships>
</file>

<file path=ppt/charts/_rels/chart2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8.xlsx"/></Relationships>
</file>

<file path=ppt/charts/_rels/chart2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9.xlsx"/></Relationships>
</file>

<file path=ppt/charts/_rels/chart3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0.xlsx"/></Relationships>
</file>

<file path=ppt/charts/_rels/chart3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1.xlsx"/></Relationships>
</file>

<file path=ppt/charts/_rels/chart3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2.xlsx"/></Relationships>
</file>

<file path=ppt/charts/_rels/chart3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3.xlsx"/></Relationships>
</file>

<file path=ppt/charts/_rels/chart3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4.xlsx"/></Relationships>
</file>

<file path=ppt/charts/_rels/chart3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5.xlsx"/></Relationships>
</file>

<file path=ppt/charts/_rels/chart3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6.xlsx"/></Relationships>
</file>

<file path=ppt/charts/_rels/chart3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7.xlsx"/></Relationships>
</file>

<file path=ppt/charts/_rels/chart3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8.xlsx"/></Relationships>
</file>

<file path=ppt/charts/_rels/chart3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9.xlsx"/></Relationships>
</file>

<file path=ppt/charts/_rels/chart4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0.xlsx"/></Relationships>
</file>

<file path=ppt/charts/_rels/chart4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1.xlsx"/></Relationships>
</file>

<file path=ppt/charts/_rels/chart4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2.xlsx"/></Relationships>
</file>

<file path=ppt/charts/_rels/chart4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3.xlsx"/></Relationships>
</file>

<file path=ppt/charts/_rels/chart4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4.xlsx"/></Relationships>
</file>

<file path=ppt/charts/_rels/chart4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5.xlsx"/></Relationships>
</file>

<file path=ppt/charts/_rels/chart4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6.xlsx"/></Relationships>
</file>

<file path=ppt/charts/_rels/chart4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7.xlsx"/></Relationships>
</file>

<file path=ppt/charts/_rels/chart4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8.xlsx"/></Relationships>
</file>

<file path=ppt/charts/_rels/chart4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9.xlsx"/></Relationships>
</file>

<file path=ppt/charts/_rels/chart5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0.xlsx"/></Relationships>
</file>

<file path=ppt/charts/_rels/chart5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1.xlsx"/></Relationships>
</file>

<file path=ppt/charts/_rels/chart5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2.xlsx"/></Relationships>
</file>

<file path=ppt/charts/_rels/chart5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3.xlsx"/></Relationships>
</file>

<file path=ppt/charts/_rels/chart5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4.xlsx"/></Relationships>
</file>

<file path=ppt/charts/_rels/chart5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5.xlsx"/></Relationships>
</file>

<file path=ppt/charts/_rels/chart5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6.xlsx"/></Relationships>
</file>

<file path=ppt/charts/_rels/chart5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7.xlsx"/></Relationships>
</file>

<file path=ppt/charts/_rels/chart5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8.xlsx"/></Relationships>
</file>

<file path=ppt/charts/_rels/chart5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9.xlsx"/></Relationships>
</file>

<file path=ppt/charts/_rels/chart6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0.xlsx"/></Relationships>
</file>

<file path=ppt/charts/_rels/chart6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1.xlsx"/></Relationships>
</file>

<file path=ppt/charts/_rels/chart6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2.xlsx"/></Relationships>
</file>

<file path=ppt/charts/_rels/chart6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3.xlsx"/></Relationships>
</file>

<file path=ppt/charts/_rels/chart6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spPr>
              <a:solidFill>
                <a:srgbClr val="2E75B6"/>
              </a:solidFill>
            </c:spPr>
          </c:dPt>
          <c:dPt>
            <c:idx val="1"/>
            <c:spPr>
              <a:solidFill>
                <a:srgbClr val="FFC000"/>
              </a:solidFill>
            </c:spPr>
          </c:dPt>
          <c:dPt>
            <c:idx val="2"/>
            <c:spPr>
              <a:solidFill>
                <a:srgbClr val="70AD47"/>
              </a:solidFill>
            </c:spPr>
          </c:dPt>
          <c:dPt>
            <c:idx val="3"/>
            <c:spPr>
              <a:solidFill>
                <a:srgbClr val="1F3564"/>
              </a:solidFill>
            </c:spPr>
          </c:dPt>
          <c:cat>
            <c:strRef>
              <c:f>Sheet1!$A$2:$A$5</c:f>
              <c:strCache>
                <c:ptCount val="4"/>
                <c:pt idx="0">
                  <c:v>Private</c:v>
                </c:pt>
                <c:pt idx="1">
                  <c:v>Public</c:v>
                </c:pt>
                <c:pt idx="2">
                  <c:v>SAHI</c:v>
                </c:pt>
                <c:pt idx="3">
                  <c:v>Specialized Insurer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136569.48</c:v>
                </c:pt>
                <c:pt idx="1">
                  <c:v>58724.04</c:v>
                </c:pt>
                <c:pt idx="2">
                  <c:v>26714.01</c:v>
                </c:pt>
                <c:pt idx="3">
                  <c:v>8188.27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spPr>
              <a:solidFill>
                <a:srgbClr val="2E75B6"/>
              </a:solidFill>
            </c:spPr>
          </c:dPt>
          <c:dPt>
            <c:idx val="1"/>
            <c:spPr>
              <a:solidFill>
                <a:srgbClr val="FFC000"/>
              </a:solidFill>
            </c:spPr>
          </c:dPt>
          <c:dPt>
            <c:idx val="2"/>
            <c:spPr>
              <a:solidFill>
                <a:srgbClr val="70AD47"/>
              </a:solidFill>
            </c:spPr>
          </c:dPt>
          <c:dPt>
            <c:idx val="3"/>
            <c:spPr>
              <a:solidFill>
                <a:srgbClr val="1F3564"/>
              </a:solidFill>
            </c:spPr>
          </c:dPt>
          <c:cat>
            <c:strRef>
              <c:f>Sheet1!$A$2:$A$5</c:f>
              <c:strCache>
                <c:ptCount val="4"/>
                <c:pt idx="0">
                  <c:v>Private</c:v>
                </c:pt>
                <c:pt idx="1">
                  <c:v>Public</c:v>
                </c:pt>
                <c:pt idx="2">
                  <c:v>SAHI</c:v>
                </c:pt>
                <c:pt idx="3">
                  <c:v>Specialized Insurer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144761.66</c:v>
                </c:pt>
                <c:pt idx="1">
                  <c:v>65159.11</c:v>
                </c:pt>
                <c:pt idx="2">
                  <c:v>31286.95</c:v>
                </c:pt>
                <c:pt idx="3">
                  <c:v>9001.19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spPr>
              <a:solidFill>
                <a:srgbClr val="2E75B6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70AD47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dPt>
            <c:idx val="4"/>
            <c:spPr>
              <a:solidFill>
                <a:srgbClr val="7C3AED"/>
              </a:solidFill>
            </c:spPr>
          </c:dPt>
          <c:dPt>
            <c:idx val="5"/>
            <c:spPr>
              <a:solidFill>
                <a:srgbClr val="264E70"/>
              </a:solidFill>
            </c:spPr>
          </c:dPt>
          <c:dPt>
            <c:idx val="6"/>
            <c:spPr>
              <a:solidFill>
                <a:srgbClr val="C00000"/>
              </a:solidFill>
            </c:spPr>
          </c:dPt>
          <c:cat>
            <c:strRef>
              <c:f>Sheet1!$A$2:$A$8</c:f>
              <c:strCache>
                <c:ptCount val="7"/>
                <c:pt idx="0">
                  <c:v>Fire</c:v>
                </c:pt>
                <c:pt idx="1">
                  <c:v>Marine</c:v>
                </c:pt>
                <c:pt idx="2">
                  <c:v>Engineering</c:v>
                </c:pt>
                <c:pt idx="3">
                  <c:v>Motor</c:v>
                </c:pt>
                <c:pt idx="4">
                  <c:v>Liability</c:v>
                </c:pt>
                <c:pt idx="5">
                  <c:v>P.A.</c:v>
                </c:pt>
                <c:pt idx="6">
                  <c:v>Others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18956.15</c:v>
                </c:pt>
                <c:pt idx="1">
                  <c:v>4186.52</c:v>
                </c:pt>
                <c:pt idx="2">
                  <c:v>4533.75</c:v>
                </c:pt>
                <c:pt idx="3">
                  <c:v>71681.27</c:v>
                </c:pt>
                <c:pt idx="4">
                  <c:v>4391.41</c:v>
                </c:pt>
                <c:pt idx="5">
                  <c:v>6659.29</c:v>
                </c:pt>
                <c:pt idx="6">
                  <c:v>30709.89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spPr>
              <a:solidFill>
                <a:srgbClr val="2E75B6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70AD47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dPt>
            <c:idx val="4"/>
            <c:spPr>
              <a:solidFill>
                <a:srgbClr val="7C3AED"/>
              </a:solidFill>
            </c:spPr>
          </c:dPt>
          <c:dPt>
            <c:idx val="5"/>
            <c:spPr>
              <a:solidFill>
                <a:srgbClr val="264E70"/>
              </a:solidFill>
            </c:spPr>
          </c:dPt>
          <c:dPt>
            <c:idx val="6"/>
            <c:spPr>
              <a:solidFill>
                <a:srgbClr val="C00000"/>
              </a:solidFill>
            </c:spPr>
          </c:dPt>
          <c:cat>
            <c:strRef>
              <c:f>Sheet1!$A$2:$A$8</c:f>
              <c:strCache>
                <c:ptCount val="7"/>
                <c:pt idx="0">
                  <c:v>Fire</c:v>
                </c:pt>
                <c:pt idx="1">
                  <c:v>Marine</c:v>
                </c:pt>
                <c:pt idx="2">
                  <c:v>Engineering</c:v>
                </c:pt>
                <c:pt idx="3">
                  <c:v>Motor</c:v>
                </c:pt>
                <c:pt idx="4">
                  <c:v>Liability</c:v>
                </c:pt>
                <c:pt idx="5">
                  <c:v>P.A.</c:v>
                </c:pt>
                <c:pt idx="6">
                  <c:v>Others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22769.21</c:v>
                </c:pt>
                <c:pt idx="1">
                  <c:v>4423.79</c:v>
                </c:pt>
                <c:pt idx="2">
                  <c:v>5120.09</c:v>
                </c:pt>
                <c:pt idx="3">
                  <c:v>78048.94</c:v>
                </c:pt>
                <c:pt idx="4">
                  <c:v>4692.76</c:v>
                </c:pt>
                <c:pt idx="5">
                  <c:v>9513.71</c:v>
                </c:pt>
                <c:pt idx="6">
                  <c:v>24549.59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spPr>
              <a:solidFill>
                <a:srgbClr val="2E75B6"/>
              </a:solidFill>
            </c:spPr>
          </c:dPt>
          <c:dPt>
            <c:idx val="1"/>
            <c:spPr>
              <a:solidFill>
                <a:srgbClr val="FFC000"/>
              </a:solidFill>
            </c:spPr>
          </c:dPt>
          <c:dPt>
            <c:idx val="2"/>
            <c:spPr>
              <a:solidFill>
                <a:srgbClr val="70AD47"/>
              </a:solidFill>
            </c:spPr>
          </c:dPt>
          <c:cat>
            <c:strRef>
              <c:f>Sheet1!$A$2:$A$4</c:f>
              <c:strCache>
                <c:ptCount val="3"/>
                <c:pt idx="0">
                  <c:v>Private</c:v>
                </c:pt>
                <c:pt idx="1">
                  <c:v>Public</c:v>
                </c:pt>
                <c:pt idx="2">
                  <c:v>SAHI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39829.24</c:v>
                </c:pt>
                <c:pt idx="1">
                  <c:v>28359.62</c:v>
                </c:pt>
                <c:pt idx="2">
                  <c:v>26713.89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spPr>
              <a:solidFill>
                <a:srgbClr val="2E75B6"/>
              </a:solidFill>
            </c:spPr>
          </c:dPt>
          <c:dPt>
            <c:idx val="1"/>
            <c:spPr>
              <a:solidFill>
                <a:srgbClr val="FFC000"/>
              </a:solidFill>
            </c:spPr>
          </c:dPt>
          <c:dPt>
            <c:idx val="2"/>
            <c:spPr>
              <a:solidFill>
                <a:srgbClr val="70AD47"/>
              </a:solidFill>
            </c:spPr>
          </c:dPt>
          <c:cat>
            <c:strRef>
              <c:f>Sheet1!$A$2:$A$4</c:f>
              <c:strCache>
                <c:ptCount val="3"/>
                <c:pt idx="0">
                  <c:v>Private</c:v>
                </c:pt>
                <c:pt idx="1">
                  <c:v>Public</c:v>
                </c:pt>
                <c:pt idx="2">
                  <c:v>SAHI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44681.43</c:v>
                </c:pt>
                <c:pt idx="1">
                  <c:v>33779.58</c:v>
                </c:pt>
                <c:pt idx="2">
                  <c:v>31286.91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spPr>
              <a:solidFill>
                <a:srgbClr val="2E75B6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70AD47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dPt>
            <c:idx val="4"/>
            <c:spPr>
              <a:solidFill>
                <a:srgbClr val="7C3AED"/>
              </a:solidFill>
            </c:spPr>
          </c:dPt>
          <c:cat>
            <c:strRef>
              <c:f>Sheet1!$A$2:$A$6</c:f>
              <c:strCache>
                <c:ptCount val="5"/>
                <c:pt idx="0">
                  <c:v>Health-Retail</c:v>
                </c:pt>
                <c:pt idx="1">
                  <c:v>Health-Group</c:v>
                </c:pt>
                <c:pt idx="2">
                  <c:v>Health-Government schemes</c:v>
                </c:pt>
                <c:pt idx="3">
                  <c:v>Overseas Medical</c:v>
                </c:pt>
                <c:pt idx="4">
                  <c:v>P.A.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32809.97</c:v>
                </c:pt>
                <c:pt idx="1">
                  <c:v>47316.11</c:v>
                </c:pt>
                <c:pt idx="2">
                  <c:v>7031.34</c:v>
                </c:pt>
                <c:pt idx="3">
                  <c:v>1086.04</c:v>
                </c:pt>
                <c:pt idx="4">
                  <c:v>6659.29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spPr>
              <a:solidFill>
                <a:srgbClr val="2E75B6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70AD47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dPt>
            <c:idx val="4"/>
            <c:spPr>
              <a:solidFill>
                <a:srgbClr val="7C3AED"/>
              </a:solidFill>
            </c:spPr>
          </c:dPt>
          <c:cat>
            <c:strRef>
              <c:f>Sheet1!$A$2:$A$6</c:f>
              <c:strCache>
                <c:ptCount val="5"/>
                <c:pt idx="0">
                  <c:v>Health-Retail</c:v>
                </c:pt>
                <c:pt idx="1">
                  <c:v>Health-Group</c:v>
                </c:pt>
                <c:pt idx="2">
                  <c:v>Health-Government schemes</c:v>
                </c:pt>
                <c:pt idx="3">
                  <c:v>Overseas Medical</c:v>
                </c:pt>
                <c:pt idx="4">
                  <c:v>P.A.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38219.29</c:v>
                </c:pt>
                <c:pt idx="1">
                  <c:v>53258.9</c:v>
                </c:pt>
                <c:pt idx="2">
                  <c:v>7571.43</c:v>
                </c:pt>
                <c:pt idx="3">
                  <c:v>1184.59</c:v>
                </c:pt>
                <c:pt idx="4">
                  <c:v>9513.71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spPr>
              <a:solidFill>
                <a:srgbClr val="9DC3E6"/>
              </a:solidFill>
            </c:spPr>
          </c:dPt>
          <c:dPt>
            <c:idx val="1"/>
            <c:spPr>
              <a:solidFill>
                <a:srgbClr val="1F4E79"/>
              </a:solidFill>
            </c:spPr>
          </c:dPt>
          <c:dPt>
            <c:idx val="2"/>
            <c:spPr>
              <a:solidFill>
                <a:srgbClr val="FFD91A"/>
              </a:solidFill>
            </c:spPr>
          </c:dPt>
          <c:dPt>
            <c:idx val="3"/>
            <c:spPr>
              <a:solidFill>
                <a:srgbClr val="92D050"/>
              </a:solidFill>
            </c:spPr>
          </c:dPt>
          <c:dPt>
            <c:idx val="4"/>
            <c:spPr>
              <a:solidFill>
                <a:srgbClr val="C00000"/>
              </a:solidFill>
            </c:spPr>
          </c:dPt>
          <c:dPt>
            <c:idx val="5"/>
            <c:spPr>
              <a:solidFill>
                <a:srgbClr val="2CA6A4"/>
              </a:solidFill>
            </c:spPr>
          </c:dPt>
          <c:dPt>
            <c:idx val="6"/>
            <c:spPr>
              <a:solidFill>
                <a:srgbClr val="ED7D31"/>
              </a:solidFill>
            </c:spPr>
          </c:dPt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4683.58</c:v>
                </c:pt>
                <c:pt idx="1">
                  <c:v>11603.02</c:v>
                </c:pt>
                <c:pt idx="2">
                  <c:v>5996.67</c:v>
                </c:pt>
                <c:pt idx="3">
                  <c:v>1209.68</c:v>
                </c:pt>
                <c:pt idx="4">
                  <c:v>3218.56</c:v>
                </c:pt>
                <c:pt idx="5">
                  <c:v>0</c:v>
                </c:pt>
                <c:pt idx="6">
                  <c:v>2.38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spPr>
              <a:solidFill>
                <a:srgbClr val="9DC3E6"/>
              </a:solidFill>
            </c:spPr>
          </c:dPt>
          <c:dPt>
            <c:idx val="1"/>
            <c:spPr>
              <a:solidFill>
                <a:srgbClr val="1F4E79"/>
              </a:solidFill>
            </c:spPr>
          </c:dPt>
          <c:dPt>
            <c:idx val="2"/>
            <c:spPr>
              <a:solidFill>
                <a:srgbClr val="FFD91A"/>
              </a:solidFill>
            </c:spPr>
          </c:dPt>
          <c:dPt>
            <c:idx val="3"/>
            <c:spPr>
              <a:solidFill>
                <a:srgbClr val="92D050"/>
              </a:solidFill>
            </c:spPr>
          </c:dPt>
          <c:dPt>
            <c:idx val="4"/>
            <c:spPr>
              <a:solidFill>
                <a:srgbClr val="C00000"/>
              </a:solidFill>
            </c:spPr>
          </c:dPt>
          <c:dPt>
            <c:idx val="5"/>
            <c:spPr>
              <a:solidFill>
                <a:srgbClr val="2CA6A4"/>
              </a:solidFill>
            </c:spPr>
          </c:dPt>
          <c:dPt>
            <c:idx val="6"/>
            <c:spPr>
              <a:solidFill>
                <a:srgbClr val="ED7D31"/>
              </a:solidFill>
            </c:spPr>
          </c:dPt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5706.24</c:v>
                </c:pt>
                <c:pt idx="1">
                  <c:v>12638.4</c:v>
                </c:pt>
                <c:pt idx="2">
                  <c:v>6878.91</c:v>
                </c:pt>
                <c:pt idx="3">
                  <c:v>1545.41</c:v>
                </c:pt>
                <c:pt idx="4">
                  <c:v>4418.17</c:v>
                </c:pt>
                <c:pt idx="5">
                  <c:v>23.95</c:v>
                </c:pt>
                <c:pt idx="6">
                  <c:v>75.83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Health-Retail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Sheet1!$A$2:$A$4</c:f>
              <c:strCache>
                <c:ptCount val="3"/>
                <c:pt idx="0">
                  <c:v>SAHI Market</c:v>
                </c:pt>
                <c:pt idx="1">
                  <c:v>Pvt GI</c:v>
                </c:pt>
                <c:pt idx="2">
                  <c:v>Public GI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22345.28</c:v>
                </c:pt>
                <c:pt idx="1">
                  <c:v>10565.7</c:v>
                </c:pt>
                <c:pt idx="2">
                  <c:v>5308.31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Health-Group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Sheet1!$A$2:$A$4</c:f>
              <c:strCache>
                <c:ptCount val="3"/>
                <c:pt idx="0">
                  <c:v>SAHI Market</c:v>
                </c:pt>
                <c:pt idx="1">
                  <c:v>Pvt GI</c:v>
                </c:pt>
                <c:pt idx="2">
                  <c:v>Public GI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8086.04</c:v>
                </c:pt>
                <c:pt idx="1">
                  <c:v>24410.48</c:v>
                </c:pt>
                <c:pt idx="2">
                  <c:v>20762.38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Health-Government schemes</c:v>
                </c:pt>
              </c:strCache>
            </c:strRef>
          </c:tx>
          <c:spPr>
            <a:solidFill>
              <a:srgbClr val="70AD47"/>
            </a:solidFill>
          </c:spPr>
          <c:cat>
            <c:strRef>
              <c:f>Sheet1!$A$2:$A$4</c:f>
              <c:strCache>
                <c:ptCount val="3"/>
                <c:pt idx="0">
                  <c:v>SAHI Market</c:v>
                </c:pt>
                <c:pt idx="1">
                  <c:v>Pvt GI</c:v>
                </c:pt>
                <c:pt idx="2">
                  <c:v>Public GI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4482.19</c:v>
                </c:pt>
                <c:pt idx="2">
                  <c:v>3089.24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Overseas Medical</c:v>
                </c:pt>
              </c:strCache>
            </c:strRef>
          </c:tx>
          <c:spPr>
            <a:solidFill>
              <a:srgbClr val="FFC000"/>
            </a:solidFill>
          </c:spPr>
          <c:cat>
            <c:strRef>
              <c:f>Sheet1!$A$2:$A$4</c:f>
              <c:strCache>
                <c:ptCount val="3"/>
                <c:pt idx="0">
                  <c:v>SAHI Market</c:v>
                </c:pt>
                <c:pt idx="1">
                  <c:v>Pvt GI</c:v>
                </c:pt>
                <c:pt idx="2">
                  <c:v>Public GI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133.28</c:v>
                </c:pt>
                <c:pt idx="1">
                  <c:v>1040.98</c:v>
                </c:pt>
                <c:pt idx="2">
                  <c:v>10.33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P.A.</c:v>
                </c:pt>
              </c:strCache>
            </c:strRef>
          </c:tx>
          <c:spPr>
            <a:solidFill>
              <a:srgbClr val="7C3AED"/>
            </a:solidFill>
          </c:spPr>
          <c:cat>
            <c:strRef>
              <c:f>Sheet1!$A$2:$A$4</c:f>
              <c:strCache>
                <c:ptCount val="3"/>
                <c:pt idx="0">
                  <c:v>SAHI Market</c:v>
                </c:pt>
                <c:pt idx="1">
                  <c:v>Pvt GI</c:v>
                </c:pt>
                <c:pt idx="2">
                  <c:v>Public GI</c:v>
                </c:pt>
              </c:strCache>
            </c: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722.31</c:v>
                </c:pt>
                <c:pt idx="1">
                  <c:v>4182.08</c:v>
                </c:pt>
                <c:pt idx="2">
                  <c:v>4609.32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7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Health-Retail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3817.38</c:v>
                </c:pt>
                <c:pt idx="1">
                  <c:v>11974.9</c:v>
                </c:pt>
                <c:pt idx="2">
                  <c:v>4367.03</c:v>
                </c:pt>
                <c:pt idx="3">
                  <c:v>725</c:v>
                </c:pt>
                <c:pt idx="4">
                  <c:v>1385.22</c:v>
                </c:pt>
                <c:pt idx="5">
                  <c:v>3.98</c:v>
                </c:pt>
                <c:pt idx="6">
                  <c:v>71.77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Health-Group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1803.98</c:v>
                </c:pt>
                <c:pt idx="1">
                  <c:v>536.21</c:v>
                </c:pt>
                <c:pt idx="2">
                  <c:v>2242.72</c:v>
                </c:pt>
                <c:pt idx="3">
                  <c:v>785.98</c:v>
                </c:pt>
                <c:pt idx="4">
                  <c:v>2697.18</c:v>
                </c:pt>
                <c:pt idx="5">
                  <c:v>19.97</c:v>
                </c:pt>
                <c:pt idx="6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Health-Government schemes</c:v>
                </c:pt>
              </c:strCache>
            </c:strRef>
          </c:tx>
          <c:spPr>
            <a:solidFill>
              <a:srgbClr val="70AD47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Overseas Medical</c:v>
                </c:pt>
              </c:strCache>
            </c:strRef>
          </c:tx>
          <c:spPr>
            <a:solidFill>
              <a:srgbClr val="FFC000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11.81</c:v>
                </c:pt>
                <c:pt idx="1">
                  <c:v>7.05</c:v>
                </c:pt>
                <c:pt idx="2">
                  <c:v>88.35</c:v>
                </c:pt>
                <c:pt idx="3">
                  <c:v>1.46</c:v>
                </c:pt>
                <c:pt idx="4">
                  <c:v>24.61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P.A.</c:v>
                </c:pt>
              </c:strCache>
            </c:strRef>
          </c:tx>
          <c:spPr>
            <a:solidFill>
              <a:srgbClr val="7C3AED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73.07</c:v>
                </c:pt>
                <c:pt idx="1">
                  <c:v>120.24</c:v>
                </c:pt>
                <c:pt idx="2">
                  <c:v>180.81</c:v>
                </c:pt>
                <c:pt idx="3">
                  <c:v>32.97</c:v>
                </c:pt>
                <c:pt idx="4">
                  <c:v>311.16</c:v>
                </c:pt>
                <c:pt idx="5">
                  <c:v>0</c:v>
                </c:pt>
                <c:pt idx="6">
                  <c:v>4.06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7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FY25_Q3</c:v>
                </c:pt>
              </c:strCache>
            </c:strRef>
          </c:tx>
          <c:spPr>
            <a:solidFill>
              <a:srgbClr val="2E5495"/>
            </a:solidFill>
          </c:spPr>
          <c:cat>
            <c:strRef>
              <c:f>Sheet1!$A$2:$A$7</c:f>
              <c:strCache>
                <c:ptCount val="6"/>
                <c:pt idx="0">
                  <c:v>STAR</c:v>
                </c:pt>
                <c:pt idx="1">
                  <c:v>CARE</c:v>
                </c:pt>
                <c:pt idx="2">
                  <c:v>CIGNA</c:v>
                </c:pt>
                <c:pt idx="3">
                  <c:v>ABHI</c:v>
                </c:pt>
                <c:pt idx="4">
                  <c:v>Narayana</c:v>
                </c:pt>
                <c:pt idx="5">
                  <c:v>Galaxy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11603.13</c:v>
                </c:pt>
                <c:pt idx="1">
                  <c:v>5996.67</c:v>
                </c:pt>
                <c:pt idx="2">
                  <c:v>1209.68</c:v>
                </c:pt>
                <c:pt idx="3">
                  <c:v>3218.57</c:v>
                </c:pt>
                <c:pt idx="4">
                  <c:v>0.65</c:v>
                </c:pt>
                <c:pt idx="5">
                  <c:v>2.38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FY26_Q3</c:v>
                </c:pt>
              </c:strCache>
            </c:strRef>
          </c:tx>
          <c:spPr>
            <a:solidFill>
              <a:srgbClr val="A6A6A6"/>
            </a:solidFill>
          </c:spPr>
          <c:cat>
            <c:strRef>
              <c:f>Sheet1!$A$2:$A$7</c:f>
              <c:strCache>
                <c:ptCount val="6"/>
                <c:pt idx="0">
                  <c:v>STAR</c:v>
                </c:pt>
                <c:pt idx="1">
                  <c:v>CARE</c:v>
                </c:pt>
                <c:pt idx="2">
                  <c:v>CIGNA</c:v>
                </c:pt>
                <c:pt idx="3">
                  <c:v>ABHI</c:v>
                </c:pt>
                <c:pt idx="4">
                  <c:v>Narayana</c:v>
                </c:pt>
                <c:pt idx="5">
                  <c:v>Galaxy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12638.21</c:v>
                </c:pt>
                <c:pt idx="1">
                  <c:v>6848.27</c:v>
                </c:pt>
                <c:pt idx="2">
                  <c:v>1545.42</c:v>
                </c:pt>
                <c:pt idx="3">
                  <c:v>4418.17</c:v>
                </c:pt>
                <c:pt idx="4">
                  <c:v>23.95</c:v>
                </c:pt>
                <c:pt idx="5">
                  <c:v>75.9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FY26_Q3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Sheet1!$A$2:$A$7</c:f>
              <c:strCache>
                <c:ptCount val="6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Galaxy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0.2184</c:v>
                </c:pt>
                <c:pt idx="1">
                  <c:v>0.0892</c:v>
                </c:pt>
                <c:pt idx="2">
                  <c:v>0.1471</c:v>
                </c:pt>
                <c:pt idx="3">
                  <c:v>0.2775</c:v>
                </c:pt>
                <c:pt idx="4">
                  <c:v>0.3727</c:v>
                </c:pt>
                <c:pt idx="5">
                  <c:v>30.8613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spPr>
              <a:solidFill>
                <a:srgbClr val="2E75B6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70AD47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dPt>
            <c:idx val="4"/>
            <c:spPr>
              <a:solidFill>
                <a:srgbClr val="7C3AED"/>
              </a:solidFill>
            </c:spPr>
          </c:dPt>
          <c:cat>
            <c:strRef>
              <c:f>Sheet1!$A$2:$A$6</c:f>
              <c:strCache>
                <c:ptCount val="5"/>
                <c:pt idx="0">
                  <c:v>Retail</c:v>
                </c:pt>
                <c:pt idx="1">
                  <c:v>Group</c:v>
                </c:pt>
                <c:pt idx="2">
                  <c:v>Govt.</c:v>
                </c:pt>
                <c:pt idx="3">
                  <c:v>Travel</c:v>
                </c:pt>
                <c:pt idx="4">
                  <c:v>PA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0.7044</c:v>
                </c:pt>
                <c:pt idx="1">
                  <c:v>0.2641</c:v>
                </c:pt>
                <c:pt idx="2">
                  <c:v>0</c:v>
                </c:pt>
                <c:pt idx="3">
                  <c:v>0.006</c:v>
                </c:pt>
                <c:pt idx="4">
                  <c:v>0.0255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spPr>
              <a:solidFill>
                <a:srgbClr val="2E75B6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70AD47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dPt>
            <c:idx val="4"/>
            <c:spPr>
              <a:solidFill>
                <a:srgbClr val="7C3AED"/>
              </a:solidFill>
            </c:spPr>
          </c:dPt>
          <c:cat>
            <c:strRef>
              <c:f>Sheet1!$A$2:$A$6</c:f>
              <c:strCache>
                <c:ptCount val="5"/>
                <c:pt idx="0">
                  <c:v>Retail</c:v>
                </c:pt>
                <c:pt idx="1">
                  <c:v>Group</c:v>
                </c:pt>
                <c:pt idx="2">
                  <c:v>Govt.</c:v>
                </c:pt>
                <c:pt idx="3">
                  <c:v>Travel</c:v>
                </c:pt>
                <c:pt idx="4">
                  <c:v>PA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0.7142</c:v>
                </c:pt>
                <c:pt idx="1">
                  <c:v>0.2584</c:v>
                </c:pt>
                <c:pt idx="2">
                  <c:v>0</c:v>
                </c:pt>
                <c:pt idx="3">
                  <c:v>0.0043</c:v>
                </c:pt>
                <c:pt idx="4">
                  <c:v>0.0231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Retail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0.669</c:v>
                </c:pt>
                <c:pt idx="1">
                  <c:v>0.9475</c:v>
                </c:pt>
                <c:pt idx="2">
                  <c:v>0.6348</c:v>
                </c:pt>
                <c:pt idx="3">
                  <c:v>0.4691</c:v>
                </c:pt>
                <c:pt idx="4">
                  <c:v>0.3135</c:v>
                </c:pt>
                <c:pt idx="5">
                  <c:v>0.1662</c:v>
                </c:pt>
                <c:pt idx="6">
                  <c:v>0.9465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Group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0.3161</c:v>
                </c:pt>
                <c:pt idx="1">
                  <c:v>0.0424</c:v>
                </c:pt>
                <c:pt idx="2">
                  <c:v>0.326</c:v>
                </c:pt>
                <c:pt idx="3">
                  <c:v>0.5086</c:v>
                </c:pt>
                <c:pt idx="4">
                  <c:v>0.6105</c:v>
                </c:pt>
                <c:pt idx="5">
                  <c:v>0.8338</c:v>
                </c:pt>
                <c:pt idx="6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Govt.</c:v>
                </c:pt>
              </c:strCache>
            </c:strRef>
          </c:tx>
          <c:spPr>
            <a:solidFill>
              <a:srgbClr val="70AD47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Travel</c:v>
                </c:pt>
              </c:strCache>
            </c:strRef>
          </c:tx>
          <c:spPr>
            <a:solidFill>
              <a:srgbClr val="FFC000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0.0021</c:v>
                </c:pt>
                <c:pt idx="1">
                  <c:v>0.0006</c:v>
                </c:pt>
                <c:pt idx="2">
                  <c:v>0.0128</c:v>
                </c:pt>
                <c:pt idx="3">
                  <c:v>0.0009</c:v>
                </c:pt>
                <c:pt idx="4">
                  <c:v>0.0056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PA</c:v>
                </c:pt>
              </c:strCache>
            </c:strRef>
          </c:tx>
          <c:spPr>
            <a:solidFill>
              <a:srgbClr val="7C3AED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0.0128</c:v>
                </c:pt>
                <c:pt idx="1">
                  <c:v>0.0095</c:v>
                </c:pt>
                <c:pt idx="2">
                  <c:v>0.0263</c:v>
                </c:pt>
                <c:pt idx="3">
                  <c:v>0.0213</c:v>
                </c:pt>
                <c:pt idx="4">
                  <c:v>0.0704</c:v>
                </c:pt>
                <c:pt idx="5">
                  <c:v>0</c:v>
                </c:pt>
                <c:pt idx="6">
                  <c:v>0.0535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7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Individual Agents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0.2975</c:v>
                </c:pt>
                <c:pt idx="1">
                  <c:v>0.8396</c:v>
                </c:pt>
                <c:pt idx="2">
                  <c:v>0.4074</c:v>
                </c:pt>
                <c:pt idx="3">
                  <c:v>0.2424</c:v>
                </c:pt>
                <c:pt idx="4">
                  <c:v>0.1194</c:v>
                </c:pt>
                <c:pt idx="5">
                  <c:v>0</c:v>
                </c:pt>
                <c:pt idx="6">
                  <c:v>0.4041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Corporate Agents - Banks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0.2017</c:v>
                </c:pt>
                <c:pt idx="1">
                  <c:v>0.0396</c:v>
                </c:pt>
                <c:pt idx="2">
                  <c:v>0.091</c:v>
                </c:pt>
                <c:pt idx="3">
                  <c:v>0.0908</c:v>
                </c:pt>
                <c:pt idx="4">
                  <c:v>0.1749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Corporate Agents - Others</c:v>
                </c:pt>
              </c:strCache>
            </c:strRef>
          </c:tx>
          <c:spPr>
            <a:solidFill>
              <a:srgbClr val="70AD47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0.112</c:v>
                </c:pt>
                <c:pt idx="1">
                  <c:v>0.0022</c:v>
                </c:pt>
                <c:pt idx="2">
                  <c:v>0.0975</c:v>
                </c:pt>
                <c:pt idx="3">
                  <c:v>0.0739</c:v>
                </c:pt>
                <c:pt idx="4">
                  <c:v>0.1263</c:v>
                </c:pt>
                <c:pt idx="5">
                  <c:v>0</c:v>
                </c:pt>
                <c:pt idx="6">
                  <c:v>0.0026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Brokers</c:v>
                </c:pt>
              </c:strCache>
            </c:strRef>
          </c:tx>
          <c:spPr>
            <a:solidFill>
              <a:srgbClr val="FFC000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0.2817</c:v>
                </c:pt>
                <c:pt idx="1">
                  <c:v>0.0428</c:v>
                </c:pt>
                <c:pt idx="2">
                  <c:v>0.3174</c:v>
                </c:pt>
                <c:pt idx="3">
                  <c:v>0.5356</c:v>
                </c:pt>
                <c:pt idx="4">
                  <c:v>0.5347</c:v>
                </c:pt>
                <c:pt idx="5">
                  <c:v>0.5215</c:v>
                </c:pt>
                <c:pt idx="6">
                  <c:v>0.2094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Direct Business</c:v>
                </c:pt>
              </c:strCache>
            </c:strRef>
          </c:tx>
          <c:spPr>
            <a:solidFill>
              <a:srgbClr val="7C3AED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0.1009</c:v>
                </c:pt>
                <c:pt idx="1">
                  <c:v>0.0742</c:v>
                </c:pt>
                <c:pt idx="2">
                  <c:v>0.0665</c:v>
                </c:pt>
                <c:pt idx="3">
                  <c:v>0.0497</c:v>
                </c:pt>
                <c:pt idx="4">
                  <c:v>0.0433</c:v>
                </c:pt>
                <c:pt idx="5">
                  <c:v>0.4785</c:v>
                </c:pt>
                <c:pt idx="6">
                  <c:v>0.3598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Others</c:v>
                </c:pt>
              </c:strCache>
            </c:strRef>
          </c:tx>
          <c:spPr>
            <a:solidFill>
              <a:srgbClr val="264E70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Sheet1!$G$2:$G$8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7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Individual Agents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30114</c:v>
                </c:pt>
                <c:pt idx="1">
                  <c:v>174764</c:v>
                </c:pt>
                <c:pt idx="2">
                  <c:v>46020</c:v>
                </c:pt>
                <c:pt idx="3">
                  <c:v>6521</c:v>
                </c:pt>
                <c:pt idx="4">
                  <c:v>7634</c:v>
                </c:pt>
                <c:pt idx="5">
                  <c:v>0</c:v>
                </c:pt>
                <c:pt idx="6">
                  <c:v>733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Corporate Agents-Banks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33679</c:v>
                </c:pt>
                <c:pt idx="1">
                  <c:v>18337</c:v>
                </c:pt>
                <c:pt idx="2">
                  <c:v>14079</c:v>
                </c:pt>
                <c:pt idx="3">
                  <c:v>2329</c:v>
                </c:pt>
                <c:pt idx="4">
                  <c:v>31154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Corporate Agents-Others</c:v>
                </c:pt>
              </c:strCache>
            </c:strRef>
          </c:tx>
          <c:spPr>
            <a:solidFill>
              <a:srgbClr val="70AD47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29366</c:v>
                </c:pt>
                <c:pt idx="1">
                  <c:v>704</c:v>
                </c:pt>
                <c:pt idx="2">
                  <c:v>35679</c:v>
                </c:pt>
                <c:pt idx="3">
                  <c:v>3558</c:v>
                </c:pt>
                <c:pt idx="4">
                  <c:v>23761</c:v>
                </c:pt>
                <c:pt idx="5">
                  <c:v>0</c:v>
                </c:pt>
                <c:pt idx="6">
                  <c:v>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Brokers</c:v>
                </c:pt>
              </c:strCache>
            </c:strRef>
          </c:tx>
          <c:spPr>
            <a:solidFill>
              <a:srgbClr val="FFC000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33360</c:v>
                </c:pt>
                <c:pt idx="1">
                  <c:v>17172</c:v>
                </c:pt>
                <c:pt idx="2">
                  <c:v>48877</c:v>
                </c:pt>
                <c:pt idx="3">
                  <c:v>13955</c:v>
                </c:pt>
                <c:pt idx="4">
                  <c:v>32574</c:v>
                </c:pt>
                <c:pt idx="5">
                  <c:v>0</c:v>
                </c:pt>
                <c:pt idx="6">
                  <c:v>454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CSC</c:v>
                </c:pt>
              </c:strCache>
            </c:strRef>
          </c:tx>
          <c:spPr>
            <a:solidFill>
              <a:srgbClr val="7C3AED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0</c:v>
                </c:pt>
                <c:pt idx="1">
                  <c:v>35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IMF</c:v>
                </c:pt>
              </c:strCache>
            </c:strRef>
          </c:tx>
          <c:spPr>
            <a:solidFill>
              <a:srgbClr val="264E70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Sheet1!$G$2:$G$8</c:f>
              <c:numCache>
                <c:formatCode>General</c:formatCode>
                <c:ptCount val="7"/>
                <c:pt idx="0">
                  <c:v>380</c:v>
                </c:pt>
                <c:pt idx="1">
                  <c:v>365</c:v>
                </c:pt>
                <c:pt idx="2">
                  <c:v>742</c:v>
                </c:pt>
                <c:pt idx="3">
                  <c:v>321</c:v>
                </c:pt>
                <c:pt idx="4">
                  <c:v>41</c:v>
                </c:pt>
                <c:pt idx="5">
                  <c:v>0</c:v>
                </c:pt>
                <c:pt idx="6">
                  <c:v>66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Web Aggregator</c:v>
                </c:pt>
              </c:strCache>
            </c:strRef>
          </c:tx>
          <c:spPr>
            <a:solidFill>
              <a:srgbClr val="C00000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Sheet1!$H$2:$H$8</c:f>
              <c:numCache>
                <c:formatCode>General</c:formatCode>
                <c:ptCount val="7"/>
                <c:pt idx="0">
                  <c:v>153</c:v>
                </c:pt>
                <c:pt idx="1">
                  <c:v>178</c:v>
                </c:pt>
                <c:pt idx="2">
                  <c:v>387</c:v>
                </c:pt>
                <c:pt idx="3">
                  <c:v>57</c:v>
                </c:pt>
                <c:pt idx="4">
                  <c:v>55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POS</c:v>
                </c:pt>
              </c:strCache>
            </c:strRef>
          </c:tx>
          <c:spPr>
            <a:solidFill>
              <a:srgbClr val="00B0B0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Sheet1!$I$2:$I$8</c:f>
              <c:numCache>
                <c:formatCode>General</c:formatCode>
                <c:ptCount val="7"/>
                <c:pt idx="0">
                  <c:v>58</c:v>
                </c:pt>
                <c:pt idx="1">
                  <c:v>13</c:v>
                </c:pt>
                <c:pt idx="2">
                  <c:v>1228</c:v>
                </c:pt>
                <c:pt idx="3">
                  <c:v>0</c:v>
                </c:pt>
                <c:pt idx="4">
                  <c:v>30</c:v>
                </c:pt>
                <c:pt idx="5">
                  <c:v>0</c:v>
                </c:pt>
                <c:pt idx="6">
                  <c:v>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7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FY25_Q3</c:v>
                </c:pt>
              </c:strCache>
            </c:strRef>
          </c:tx>
          <c:spPr>
            <a:solidFill>
              <a:srgbClr val="2E5495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3136</c:v>
                </c:pt>
                <c:pt idx="1">
                  <c:v>10564.2</c:v>
                </c:pt>
                <c:pt idx="2">
                  <c:v>3541.06</c:v>
                </c:pt>
                <c:pt idx="3">
                  <c:v>576.16</c:v>
                </c:pt>
                <c:pt idx="4">
                  <c:v>996.77</c:v>
                </c:pt>
                <c:pt idx="5">
                  <c:v>0</c:v>
                </c:pt>
                <c:pt idx="6">
                  <c:v>2.38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FY26_Q3</c:v>
                </c:pt>
              </c:strCache>
            </c:strRef>
          </c:tx>
          <c:spPr>
            <a:solidFill>
              <a:srgbClr val="A6A6A6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3817.38</c:v>
                </c:pt>
                <c:pt idx="1">
                  <c:v>11974.9</c:v>
                </c:pt>
                <c:pt idx="2">
                  <c:v>4367.03</c:v>
                </c:pt>
                <c:pt idx="3">
                  <c:v>725</c:v>
                </c:pt>
                <c:pt idx="4">
                  <c:v>1385.22</c:v>
                </c:pt>
                <c:pt idx="5">
                  <c:v>3.98</c:v>
                </c:pt>
                <c:pt idx="6">
                  <c:v>71.77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FY26_Q3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681.38</c:v>
                </c:pt>
                <c:pt idx="1">
                  <c:v>1410.7</c:v>
                </c:pt>
                <c:pt idx="2">
                  <c:v>825.97</c:v>
                </c:pt>
                <c:pt idx="3">
                  <c:v>148.84</c:v>
                </c:pt>
                <c:pt idx="4">
                  <c:v>388.45</c:v>
                </c:pt>
                <c:pt idx="5">
                  <c:v>3.98</c:v>
                </c:pt>
                <c:pt idx="6">
                  <c:v>69.39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FY26_Q3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Sheet1!$A$2:$A$7</c:f>
              <c:strCache>
                <c:ptCount val="6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Galaxy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23385.46</c:v>
                </c:pt>
                <c:pt idx="1">
                  <c:v>18650.97</c:v>
                </c:pt>
                <c:pt idx="2">
                  <c:v>22834.81</c:v>
                </c:pt>
                <c:pt idx="3">
                  <c:v>27191.61</c:v>
                </c:pt>
                <c:pt idx="4">
                  <c:v>21430.81</c:v>
                </c:pt>
                <c:pt idx="5">
                  <c:v>15450.88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FY26_Q3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Sheet1!$A$2:$A$7</c:f>
              <c:strCache>
                <c:ptCount val="6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Galaxy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0.7552</c:v>
                </c:pt>
                <c:pt idx="1">
                  <c:v>1.2962</c:v>
                </c:pt>
                <c:pt idx="2">
                  <c:v>0.6969</c:v>
                </c:pt>
                <c:pt idx="3">
                  <c:v>0.3727</c:v>
                </c:pt>
                <c:pt idx="4">
                  <c:v>0.3223</c:v>
                </c:pt>
                <c:pt idx="5">
                  <c:v>0.2872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North</c:v>
                </c:pt>
              </c:strCache>
            </c:strRef>
          </c:tx>
          <c:spPr>
            <a:solidFill>
              <a:srgbClr val="FFC000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0.2824</c:v>
                </c:pt>
                <c:pt idx="1">
                  <c:v>0.1673</c:v>
                </c:pt>
                <c:pt idx="2">
                  <c:v>0.2059</c:v>
                </c:pt>
                <c:pt idx="3">
                  <c:v>0.1641</c:v>
                </c:pt>
                <c:pt idx="4">
                  <c:v>0.1678</c:v>
                </c:pt>
                <c:pt idx="5">
                  <c:v>0</c:v>
                </c:pt>
                <c:pt idx="6">
                  <c:v>0.009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West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0.149</c:v>
                </c:pt>
                <c:pt idx="1">
                  <c:v>0.1834</c:v>
                </c:pt>
                <c:pt idx="2">
                  <c:v>0.251</c:v>
                </c:pt>
                <c:pt idx="3">
                  <c:v>0.2905</c:v>
                </c:pt>
                <c:pt idx="4">
                  <c:v>0.3402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South</c:v>
                </c:pt>
              </c:strCache>
            </c:strRef>
          </c:tx>
          <c:spPr>
            <a:solidFill>
              <a:srgbClr val="70AD47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0.195</c:v>
                </c:pt>
                <c:pt idx="1">
                  <c:v>0.3169</c:v>
                </c:pt>
                <c:pt idx="2">
                  <c:v>0.1693</c:v>
                </c:pt>
                <c:pt idx="3">
                  <c:v>0.298</c:v>
                </c:pt>
                <c:pt idx="4">
                  <c:v>0.2363</c:v>
                </c:pt>
                <c:pt idx="5">
                  <c:v>1</c:v>
                </c:pt>
                <c:pt idx="6">
                  <c:v>0.8381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Others (unclassified)</c:v>
                </c:pt>
              </c:strCache>
            </c:strRef>
          </c:tx>
          <c:spPr>
            <a:solidFill>
              <a:srgbClr val="F2F2F2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0.3737</c:v>
                </c:pt>
                <c:pt idx="1">
                  <c:v>0.3325</c:v>
                </c:pt>
                <c:pt idx="2">
                  <c:v>0.3738</c:v>
                </c:pt>
                <c:pt idx="3">
                  <c:v>0.2474</c:v>
                </c:pt>
                <c:pt idx="4">
                  <c:v>0.2556</c:v>
                </c:pt>
                <c:pt idx="5">
                  <c:v>0</c:v>
                </c:pt>
                <c:pt idx="6">
                  <c:v>0.153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7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Uttar Pradesh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0.1206</c:v>
                </c:pt>
                <c:pt idx="1">
                  <c:v>0.0611</c:v>
                </c:pt>
                <c:pt idx="2">
                  <c:v>0.07</c:v>
                </c:pt>
                <c:pt idx="3">
                  <c:v>0.0439</c:v>
                </c:pt>
                <c:pt idx="4">
                  <c:v>0.0516</c:v>
                </c:pt>
                <c:pt idx="5">
                  <c:v>0</c:v>
                </c:pt>
                <c:pt idx="6">
                  <c:v>0.009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Maharashtra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0.149</c:v>
                </c:pt>
                <c:pt idx="1">
                  <c:v>0.1834</c:v>
                </c:pt>
                <c:pt idx="2">
                  <c:v>0.251</c:v>
                </c:pt>
                <c:pt idx="3">
                  <c:v>0.2905</c:v>
                </c:pt>
                <c:pt idx="4">
                  <c:v>0.3402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Karnataka</c:v>
                </c:pt>
              </c:strCache>
            </c:strRef>
          </c:tx>
          <c:spPr>
            <a:solidFill>
              <a:srgbClr val="70AD47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0.0868</c:v>
                </c:pt>
                <c:pt idx="1">
                  <c:v>0.0711</c:v>
                </c:pt>
                <c:pt idx="2">
                  <c:v>0.0992</c:v>
                </c:pt>
                <c:pt idx="3">
                  <c:v>0.1812</c:v>
                </c:pt>
                <c:pt idx="4">
                  <c:v>0.1746</c:v>
                </c:pt>
                <c:pt idx="5">
                  <c:v>1</c:v>
                </c:pt>
                <c:pt idx="6">
                  <c:v>0.1593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Haryana</c:v>
                </c:pt>
              </c:strCache>
            </c:strRef>
          </c:tx>
          <c:spPr>
            <a:solidFill>
              <a:srgbClr val="FFC000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0.0731</c:v>
                </c:pt>
                <c:pt idx="1">
                  <c:v>0.0583</c:v>
                </c:pt>
                <c:pt idx="2">
                  <c:v>0.0736</c:v>
                </c:pt>
                <c:pt idx="3">
                  <c:v>0.0791</c:v>
                </c:pt>
                <c:pt idx="4">
                  <c:v>0.0692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Tamil Nadu</c:v>
                </c:pt>
              </c:strCache>
            </c:strRef>
          </c:tx>
          <c:spPr>
            <a:solidFill>
              <a:srgbClr val="7C3AED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0.0546</c:v>
                </c:pt>
                <c:pt idx="1">
                  <c:v>0.1451</c:v>
                </c:pt>
                <c:pt idx="2">
                  <c:v>0.0453</c:v>
                </c:pt>
                <c:pt idx="3">
                  <c:v>0.0608</c:v>
                </c:pt>
                <c:pt idx="4">
                  <c:v>0.0409</c:v>
                </c:pt>
                <c:pt idx="5">
                  <c:v>0</c:v>
                </c:pt>
                <c:pt idx="6">
                  <c:v>0.6788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Kerala</c:v>
                </c:pt>
              </c:strCache>
            </c:strRef>
          </c:tx>
          <c:spPr>
            <a:solidFill>
              <a:srgbClr val="264E70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Sheet1!$G$2:$G$8</c:f>
              <c:numCache>
                <c:formatCode>General</c:formatCode>
                <c:ptCount val="7"/>
                <c:pt idx="0">
                  <c:v>0.0536</c:v>
                </c:pt>
                <c:pt idx="1">
                  <c:v>0.1007</c:v>
                </c:pt>
                <c:pt idx="2">
                  <c:v>0.0248</c:v>
                </c:pt>
                <c:pt idx="3">
                  <c:v>0.056</c:v>
                </c:pt>
                <c:pt idx="4">
                  <c:v>0.0208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Delhi</c:v>
                </c:pt>
              </c:strCache>
            </c:strRef>
          </c:tx>
          <c:spPr>
            <a:solidFill>
              <a:srgbClr val="C00000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Sheet1!$H$2:$H$8</c:f>
              <c:numCache>
                <c:formatCode>General</c:formatCode>
                <c:ptCount val="7"/>
                <c:pt idx="0">
                  <c:v>0.0887</c:v>
                </c:pt>
                <c:pt idx="1">
                  <c:v>0.0479</c:v>
                </c:pt>
                <c:pt idx="2">
                  <c:v>0.0623</c:v>
                </c:pt>
                <c:pt idx="3">
                  <c:v>0.0411</c:v>
                </c:pt>
                <c:pt idx="4">
                  <c:v>0.047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Others</c:v>
                </c:pt>
              </c:strCache>
            </c:strRef>
          </c:tx>
          <c:spPr>
            <a:solidFill>
              <a:srgbClr val="00B0B0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Sheet1!$I$2:$I$8</c:f>
              <c:numCache>
                <c:formatCode>General</c:formatCode>
                <c:ptCount val="7"/>
                <c:pt idx="0">
                  <c:v>0.3737</c:v>
                </c:pt>
                <c:pt idx="1">
                  <c:v>0.3325</c:v>
                </c:pt>
                <c:pt idx="2">
                  <c:v>0.3738</c:v>
                </c:pt>
                <c:pt idx="3">
                  <c:v>0.2474</c:v>
                </c:pt>
                <c:pt idx="4">
                  <c:v>0.2556</c:v>
                </c:pt>
                <c:pt idx="5">
                  <c:v>0</c:v>
                </c:pt>
                <c:pt idx="6">
                  <c:v>0.153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7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FY25_Q3</c:v>
                </c:pt>
              </c:strCache>
            </c:strRef>
          </c:tx>
          <c:spPr>
            <a:solidFill>
              <a:srgbClr val="2E5495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1.0504</c:v>
                </c:pt>
                <c:pt idx="1">
                  <c:v>1.0181</c:v>
                </c:pt>
                <c:pt idx="2">
                  <c:v>1.05</c:v>
                </c:pt>
                <c:pt idx="3">
                  <c:v>1.26</c:v>
                </c:pt>
                <c:pt idx="4">
                  <c:v>1.13</c:v>
                </c:pt>
                <c:pt idx="5">
                  <c:v>9.13</c:v>
                </c:pt>
                <c:pt idx="6">
                  <c:v>21.4474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FY26_Q3</c:v>
                </c:pt>
              </c:strCache>
            </c:strRef>
          </c:tx>
          <c:spPr>
            <a:solidFill>
              <a:srgbClr val="A6A6A6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1.1188</c:v>
                </c:pt>
                <c:pt idx="1">
                  <c:v>1.0268</c:v>
                </c:pt>
                <c:pt idx="2">
                  <c:v>1.1</c:v>
                </c:pt>
                <c:pt idx="3">
                  <c:v>1.33</c:v>
                </c:pt>
                <c:pt idx="4">
                  <c:v>1.11</c:v>
                </c:pt>
                <c:pt idx="5">
                  <c:v>1.66</c:v>
                </c:pt>
                <c:pt idx="6">
                  <c:v>1.9001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FY25_Q3</c:v>
                </c:pt>
              </c:strCache>
            </c:strRef>
          </c:tx>
          <c:spPr>
            <a:solidFill>
              <a:srgbClr val="2E5495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0.5131</c:v>
                </c:pt>
                <c:pt idx="1">
                  <c:v>0.3115</c:v>
                </c:pt>
                <c:pt idx="2">
                  <c:v>0.38</c:v>
                </c:pt>
                <c:pt idx="3">
                  <c:v>0.47</c:v>
                </c:pt>
                <c:pt idx="4">
                  <c:v>0.36</c:v>
                </c:pt>
                <c:pt idx="5">
                  <c:v>9.15</c:v>
                </c:pt>
                <c:pt idx="6">
                  <c:v>21.3424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FY26_Q3</c:v>
                </c:pt>
              </c:strCache>
            </c:strRef>
          </c:tx>
          <c:spPr>
            <a:solidFill>
              <a:srgbClr val="A6A6A6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0.4602</c:v>
                </c:pt>
                <c:pt idx="1">
                  <c:v>0.3283</c:v>
                </c:pt>
                <c:pt idx="2">
                  <c:v>0.36</c:v>
                </c:pt>
                <c:pt idx="3">
                  <c:v>0.36</c:v>
                </c:pt>
                <c:pt idx="4">
                  <c:v>0.28</c:v>
                </c:pt>
                <c:pt idx="5">
                  <c:v>0.87</c:v>
                </c:pt>
                <c:pt idx="6">
                  <c:v>1.5715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FY25_Q3</c:v>
                </c:pt>
              </c:strCache>
            </c:strRef>
          </c:tx>
          <c:spPr>
            <a:solidFill>
              <a:srgbClr val="2E5495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0.6341</c:v>
                </c:pt>
                <c:pt idx="1">
                  <c:v>0.7066</c:v>
                </c:pt>
                <c:pt idx="2">
                  <c:v>0.67</c:v>
                </c:pt>
                <c:pt idx="3">
                  <c:v>0.79</c:v>
                </c:pt>
                <c:pt idx="4">
                  <c:v>0.77</c:v>
                </c:pt>
                <c:pt idx="5">
                  <c:v>0.7</c:v>
                </c:pt>
                <c:pt idx="6">
                  <c:v>0.1051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FY26_Q3</c:v>
                </c:pt>
              </c:strCache>
            </c:strRef>
          </c:tx>
          <c:spPr>
            <a:solidFill>
              <a:srgbClr val="A6A6A6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0.7357</c:v>
                </c:pt>
                <c:pt idx="1">
                  <c:v>0.6985</c:v>
                </c:pt>
                <c:pt idx="2">
                  <c:v>0.74</c:v>
                </c:pt>
                <c:pt idx="3">
                  <c:v>0.96</c:v>
                </c:pt>
                <c:pt idx="4">
                  <c:v>0.83</c:v>
                </c:pt>
                <c:pt idx="5">
                  <c:v>0.78</c:v>
                </c:pt>
                <c:pt idx="6">
                  <c:v>0.3286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FY26_Q3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0.9303</c:v>
                </c:pt>
                <c:pt idx="1">
                  <c:v>0.9052</c:v>
                </c:pt>
                <c:pt idx="2">
                  <c:v>0.9577</c:v>
                </c:pt>
                <c:pt idx="3">
                  <c:v>0.9461</c:v>
                </c:pt>
                <c:pt idx="4">
                  <c:v>0.9844</c:v>
                </c:pt>
                <c:pt idx="5">
                  <c:v>0.4644</c:v>
                </c:pt>
                <c:pt idx="6">
                  <c:v>0.805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FY26_Q3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27334.08</c:v>
                </c:pt>
                <c:pt idx="1">
                  <c:v>39371.42</c:v>
                </c:pt>
                <c:pt idx="2">
                  <c:v>32023.1</c:v>
                </c:pt>
                <c:pt idx="3">
                  <c:v>33608.56</c:v>
                </c:pt>
                <c:pt idx="4">
                  <c:v>12190.84</c:v>
                </c:pt>
                <c:pt idx="5">
                  <c:v>272861.36</c:v>
                </c:pt>
                <c:pt idx="6">
                  <c:v>72738.1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FY26_Q3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0.703719</c:v>
                </c:pt>
                <c:pt idx="1">
                  <c:v>0.366895</c:v>
                </c:pt>
                <c:pt idx="2">
                  <c:v>0.603589</c:v>
                </c:pt>
                <c:pt idx="3">
                  <c:v>1.352364</c:v>
                </c:pt>
                <c:pt idx="4">
                  <c:v>2.534265</c:v>
                </c:pt>
                <c:pt idx="5">
                  <c:v>0.20774</c:v>
                </c:pt>
                <c:pt idx="6">
                  <c:v>0.011074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FY25_Q3</c:v>
                </c:pt>
              </c:strCache>
            </c:strRef>
          </c:tx>
          <c:spPr>
            <a:solidFill>
              <a:srgbClr val="2E5495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0.1645</c:v>
                </c:pt>
                <c:pt idx="1">
                  <c:v>0.16</c:v>
                </c:pt>
                <c:pt idx="2">
                  <c:v>0.164</c:v>
                </c:pt>
                <c:pt idx="3">
                  <c:v>0.2413</c:v>
                </c:pt>
                <c:pt idx="4">
                  <c:v>0.2011</c:v>
                </c:pt>
                <c:pt idx="5">
                  <c:v>17.3077</c:v>
                </c:pt>
                <c:pt idx="6">
                  <c:v>19.6471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FY26_Q3</c:v>
                </c:pt>
              </c:strCache>
            </c:strRef>
          </c:tx>
          <c:spPr>
            <a:solidFill>
              <a:srgbClr val="A6A6A6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0.1521</c:v>
                </c:pt>
                <c:pt idx="1">
                  <c:v>0.1643</c:v>
                </c:pt>
                <c:pt idx="2">
                  <c:v>0.1421</c:v>
                </c:pt>
                <c:pt idx="3">
                  <c:v>0.2267</c:v>
                </c:pt>
                <c:pt idx="4">
                  <c:v>0.1668</c:v>
                </c:pt>
                <c:pt idx="5">
                  <c:v>0.8084</c:v>
                </c:pt>
                <c:pt idx="6">
                  <c:v>1.3333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FY25_Q3</c:v>
                </c:pt>
              </c:strCache>
            </c:strRef>
          </c:tx>
          <c:spPr>
            <a:solidFill>
              <a:srgbClr val="2E5495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0.1113</c:v>
                </c:pt>
                <c:pt idx="1">
                  <c:v>0.1064</c:v>
                </c:pt>
                <c:pt idx="2">
                  <c:v>0.1164</c:v>
                </c:pt>
                <c:pt idx="3">
                  <c:v>0.1597</c:v>
                </c:pt>
                <c:pt idx="4">
                  <c:v>0.131</c:v>
                </c:pt>
                <c:pt idx="5">
                  <c:v>7.6</c:v>
                </c:pt>
                <c:pt idx="6">
                  <c:v>10.5462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FY26_Q3</c:v>
                </c:pt>
              </c:strCache>
            </c:strRef>
          </c:tx>
          <c:spPr>
            <a:solidFill>
              <a:srgbClr val="A6A6A6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0.0912</c:v>
                </c:pt>
                <c:pt idx="1">
                  <c:v>0.1072</c:v>
                </c:pt>
                <c:pt idx="2">
                  <c:v>0.1045</c:v>
                </c:pt>
                <c:pt idx="3">
                  <c:v>0.1463</c:v>
                </c:pt>
                <c:pt idx="4">
                  <c:v>0.0999</c:v>
                </c:pt>
                <c:pt idx="5">
                  <c:v>0.4309</c:v>
                </c:pt>
                <c:pt idx="6">
                  <c:v>0.6966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FY25_Q3</c:v>
                </c:pt>
              </c:strCache>
            </c:strRef>
          </c:tx>
          <c:spPr>
            <a:solidFill>
              <a:srgbClr val="2E5495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0.0053</c:v>
                </c:pt>
                <c:pt idx="1">
                  <c:v>0.0115</c:v>
                </c:pt>
                <c:pt idx="2">
                  <c:v>0.005</c:v>
                </c:pt>
                <c:pt idx="3">
                  <c:v>0.0148</c:v>
                </c:pt>
                <c:pt idx="4">
                  <c:v>0.011</c:v>
                </c:pt>
                <c:pt idx="5">
                  <c:v>0</c:v>
                </c:pt>
                <c:pt idx="6">
                  <c:v>1.8361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FY26_Q3</c:v>
                </c:pt>
              </c:strCache>
            </c:strRef>
          </c:tx>
          <c:spPr>
            <a:solidFill>
              <a:srgbClr val="A6A6A6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0.0071</c:v>
                </c:pt>
                <c:pt idx="1">
                  <c:v>0.0129</c:v>
                </c:pt>
                <c:pt idx="2">
                  <c:v>0.0054</c:v>
                </c:pt>
                <c:pt idx="3">
                  <c:v>0.0125</c:v>
                </c:pt>
                <c:pt idx="4">
                  <c:v>0.0108</c:v>
                </c:pt>
                <c:pt idx="5">
                  <c:v>0</c:v>
                </c:pt>
                <c:pt idx="6">
                  <c:v>0.1364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FY25_Q3</c:v>
                </c:pt>
              </c:strCache>
            </c:strRef>
          </c:tx>
          <c:spPr>
            <a:solidFill>
              <a:srgbClr val="2E5495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0.6764</c:v>
                </c:pt>
                <c:pt idx="1">
                  <c:v>0.6649</c:v>
                </c:pt>
                <c:pt idx="2">
                  <c:v>0.7101</c:v>
                </c:pt>
                <c:pt idx="3">
                  <c:v>0.6617</c:v>
                </c:pt>
                <c:pt idx="4">
                  <c:v>0.6512</c:v>
                </c:pt>
                <c:pt idx="5">
                  <c:v>0.4391</c:v>
                </c:pt>
                <c:pt idx="6">
                  <c:v>0.5368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FY26_Q3</c:v>
                </c:pt>
              </c:strCache>
            </c:strRef>
          </c:tx>
          <c:spPr>
            <a:solidFill>
              <a:srgbClr val="A6A6A6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0.5996</c:v>
                </c:pt>
                <c:pt idx="1">
                  <c:v>0.6524</c:v>
                </c:pt>
                <c:pt idx="2">
                  <c:v>0.7356</c:v>
                </c:pt>
                <c:pt idx="3">
                  <c:v>0.6453</c:v>
                </c:pt>
                <c:pt idx="4">
                  <c:v>0.5987</c:v>
                </c:pt>
                <c:pt idx="5">
                  <c:v>0.5331</c:v>
                </c:pt>
                <c:pt idx="6">
                  <c:v>0.5224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FY26_Q3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5.1355</c:v>
                </c:pt>
                <c:pt idx="1">
                  <c:v>7.3931</c:v>
                </c:pt>
                <c:pt idx="2">
                  <c:v>6.0143</c:v>
                </c:pt>
                <c:pt idx="3">
                  <c:v>6.2121</c:v>
                </c:pt>
                <c:pt idx="4">
                  <c:v>6.1921</c:v>
                </c:pt>
                <c:pt idx="5">
                  <c:v>8.126</c:v>
                </c:pt>
                <c:pt idx="6">
                  <c:v>2.7608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FY26_Q3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1.1608</c:v>
                </c:pt>
                <c:pt idx="1">
                  <c:v>1.3929</c:v>
                </c:pt>
                <c:pt idx="2">
                  <c:v>0.9546</c:v>
                </c:pt>
                <c:pt idx="3">
                  <c:v>0.8889</c:v>
                </c:pt>
                <c:pt idx="4">
                  <c:v>0.9059</c:v>
                </c:pt>
                <c:pt idx="5">
                  <c:v>3.6944</c:v>
                </c:pt>
                <c:pt idx="6">
                  <c:v>0.8503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FY25_Q3</c:v>
                </c:pt>
              </c:strCache>
            </c:strRef>
          </c:tx>
          <c:spPr>
            <a:solidFill>
              <a:srgbClr val="2E5495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1827.03</c:v>
                </c:pt>
                <c:pt idx="1">
                  <c:v>587.68</c:v>
                </c:pt>
                <c:pt idx="2">
                  <c:v>973.12</c:v>
                </c:pt>
                <c:pt idx="3">
                  <c:v>1645.25</c:v>
                </c:pt>
                <c:pt idx="4">
                  <c:v>538</c:v>
                </c:pt>
                <c:pt idx="5">
                  <c:v>100.05</c:v>
                </c:pt>
                <c:pt idx="6">
                  <c:v>300.25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FY26_Q3</c:v>
                </c:pt>
              </c:strCache>
            </c:strRef>
          </c:tx>
          <c:spPr>
            <a:solidFill>
              <a:srgbClr val="A6A6A6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1847.2</c:v>
                </c:pt>
                <c:pt idx="1">
                  <c:v>588.4</c:v>
                </c:pt>
                <c:pt idx="2">
                  <c:v>995.83</c:v>
                </c:pt>
                <c:pt idx="3">
                  <c:v>1919.22</c:v>
                </c:pt>
                <c:pt idx="4">
                  <c:v>556.52</c:v>
                </c:pt>
                <c:pt idx="5">
                  <c:v>117.05</c:v>
                </c:pt>
                <c:pt idx="6">
                  <c:v>300.25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FY25_Q3</c:v>
                </c:pt>
              </c:strCache>
            </c:strRef>
          </c:tx>
          <c:spPr>
            <a:solidFill>
              <a:srgbClr val="2E5495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286505</c:v>
                </c:pt>
                <c:pt idx="1">
                  <c:v>704458</c:v>
                </c:pt>
                <c:pt idx="2">
                  <c:v>221019</c:v>
                </c:pt>
                <c:pt idx="3">
                  <c:v>48126</c:v>
                </c:pt>
                <c:pt idx="4">
                  <c:v>127487</c:v>
                </c:pt>
                <c:pt idx="5">
                  <c:v>9000</c:v>
                </c:pt>
                <c:pt idx="6">
                  <c:v>26543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FY26_Q3</c:v>
                </c:pt>
              </c:strCache>
            </c:strRef>
          </c:tx>
          <c:spPr>
            <a:solidFill>
              <a:srgbClr val="A6A6A6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288591</c:v>
                </c:pt>
                <c:pt idx="1">
                  <c:v>768209</c:v>
                </c:pt>
                <c:pt idx="2">
                  <c:v>262217</c:v>
                </c:pt>
                <c:pt idx="3">
                  <c:v>66401</c:v>
                </c:pt>
                <c:pt idx="4">
                  <c:v>154966</c:v>
                </c:pt>
                <c:pt idx="5">
                  <c:v>8568</c:v>
                </c:pt>
                <c:pt idx="6">
                  <c:v>16565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FY25_Q3</c:v>
                </c:pt>
              </c:strCache>
            </c:strRef>
          </c:tx>
          <c:spPr>
            <a:solidFill>
              <a:srgbClr val="2E5495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7.44</c:v>
                </c:pt>
                <c:pt idx="1">
                  <c:v>861.92</c:v>
                </c:pt>
                <c:pt idx="2">
                  <c:v>14.49</c:v>
                </c:pt>
                <c:pt idx="3">
                  <c:v>-215.08</c:v>
                </c:pt>
                <c:pt idx="4">
                  <c:v>-199.11</c:v>
                </c:pt>
                <c:pt idx="5">
                  <c:v>-3.1</c:v>
                </c:pt>
                <c:pt idx="6">
                  <c:v>-30.99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FY26_Q3</c:v>
                </c:pt>
              </c:strCache>
            </c:strRef>
          </c:tx>
          <c:spPr>
            <a:solidFill>
              <a:srgbClr val="A6A6A6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-214.35</c:v>
                </c:pt>
                <c:pt idx="1">
                  <c:v>603.12</c:v>
                </c:pt>
                <c:pt idx="2">
                  <c:v>-89.33</c:v>
                </c:pt>
                <c:pt idx="3">
                  <c:v>-444.71</c:v>
                </c:pt>
                <c:pt idx="4">
                  <c:v>-179.62</c:v>
                </c:pt>
                <c:pt idx="5">
                  <c:v>-3.17</c:v>
                </c:pt>
                <c:pt idx="6">
                  <c:v>-75.57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Corporate Bonds/Debentures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0.5694694866670886</c:v>
                </c:pt>
                <c:pt idx="1">
                  <c:v>0.3686368576693841</c:v>
                </c:pt>
                <c:pt idx="2">
                  <c:v>0.2828959693670065</c:v>
                </c:pt>
                <c:pt idx="3">
                  <c:v>0.5142161841594013</c:v>
                </c:pt>
                <c:pt idx="4">
                  <c:v>0.46748425778504527</c:v>
                </c:pt>
                <c:pt idx="5">
                  <c:v>0.0</c:v>
                </c:pt>
                <c:pt idx="6">
                  <c:v>0.18677831048686608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Govt Bonds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0.3486106464359668</c:v>
                </c:pt>
                <c:pt idx="1">
                  <c:v>0.4209859282036258</c:v>
                </c:pt>
                <c:pt idx="2">
                  <c:v>0.5037514450602927</c:v>
                </c:pt>
                <c:pt idx="3">
                  <c:v>0.4351427071759181</c:v>
                </c:pt>
                <c:pt idx="4">
                  <c:v>0.3668201442976606</c:v>
                </c:pt>
                <c:pt idx="5">
                  <c:v>0.6952611553095815</c:v>
                </c:pt>
                <c:pt idx="6">
                  <c:v>0.7857384023229117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Deposits</c:v>
                </c:pt>
              </c:strCache>
            </c:strRef>
          </c:tx>
          <c:spPr>
            <a:solidFill>
              <a:srgbClr val="70AD47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0.014467723413297646</c:v>
                </c:pt>
                <c:pt idx="1">
                  <c:v>0.0</c:v>
                </c:pt>
                <c:pt idx="2">
                  <c:v>0.0</c:v>
                </c:pt>
                <c:pt idx="3">
                  <c:v>0.021813372960960878</c:v>
                </c:pt>
                <c:pt idx="4">
                  <c:v>0.07619949223288437</c:v>
                </c:pt>
                <c:pt idx="5">
                  <c:v>0.17762020062262193</c:v>
                </c:pt>
                <c:pt idx="6">
                  <c:v>0.0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Equity/Invits/REIT</c:v>
                </c:pt>
              </c:strCache>
            </c:strRef>
          </c:tx>
          <c:spPr>
            <a:solidFill>
              <a:srgbClr val="FFC000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0.0016764474505158646</c:v>
                </c:pt>
                <c:pt idx="1">
                  <c:v>0.08248918685969665</c:v>
                </c:pt>
                <c:pt idx="2">
                  <c:v>0.13585851431809148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Mutual Funds</c:v>
                </c:pt>
              </c:strCache>
            </c:strRef>
          </c:tx>
          <c:spPr>
            <a:solidFill>
              <a:srgbClr val="7C3AED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0.06577569603313108</c:v>
                </c:pt>
                <c:pt idx="1">
                  <c:v>0.1278880272672935</c:v>
                </c:pt>
                <c:pt idx="2">
                  <c:v>0.07749407125460935</c:v>
                </c:pt>
                <c:pt idx="3">
                  <c:v>0.02882773570371986</c:v>
                </c:pt>
                <c:pt idx="4">
                  <c:v>0.08949610568440984</c:v>
                </c:pt>
                <c:pt idx="5">
                  <c:v>0.1271186440677966</c:v>
                </c:pt>
                <c:pt idx="6">
                  <c:v>0.027483287190222163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7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Corporate Bonds/Debentures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0.5491447806000468</c:v>
                </c:pt>
                <c:pt idx="1">
                  <c:v>0.44329257003062555</c:v>
                </c:pt>
                <c:pt idx="2">
                  <c:v>0.2510759799808495</c:v>
                </c:pt>
                <c:pt idx="3">
                  <c:v>0.4898508720541835</c:v>
                </c:pt>
                <c:pt idx="4">
                  <c:v>0.4413277661182617</c:v>
                </c:pt>
                <c:pt idx="5">
                  <c:v>0.0</c:v>
                </c:pt>
                <c:pt idx="6">
                  <c:v>0.062384473197781884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Govt Bonds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0.37094860594294343</c:v>
                </c:pt>
                <c:pt idx="1">
                  <c:v>0.43291355933746734</c:v>
                </c:pt>
                <c:pt idx="2">
                  <c:v>0.5393843222806828</c:v>
                </c:pt>
                <c:pt idx="3">
                  <c:v>0.43524599430621075</c:v>
                </c:pt>
                <c:pt idx="4">
                  <c:v>0.44629569837239674</c:v>
                </c:pt>
                <c:pt idx="5">
                  <c:v>0.7906379334950764</c:v>
                </c:pt>
                <c:pt idx="6">
                  <c:v>0.9240090367631957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Deposits</c:v>
                </c:pt>
              </c:strCache>
            </c:strRef>
          </c:tx>
          <c:spPr>
            <a:solidFill>
              <a:srgbClr val="70AD47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0.035952470833558035</c:v>
                </c:pt>
                <c:pt idx="1">
                  <c:v>0.0</c:v>
                </c:pt>
                <c:pt idx="2">
                  <c:v>0.0</c:v>
                </c:pt>
                <c:pt idx="3">
                  <c:v>0.03895209611609574</c:v>
                </c:pt>
                <c:pt idx="4">
                  <c:v>0.056760643996653794</c:v>
                </c:pt>
                <c:pt idx="5">
                  <c:v>0.13358070500927643</c:v>
                </c:pt>
                <c:pt idx="6">
                  <c:v>0.0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Equity/Invits/REIT</c:v>
                </c:pt>
              </c:strCache>
            </c:strRef>
          </c:tx>
          <c:spPr>
            <a:solidFill>
              <a:srgbClr val="FFC000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0.0017167304823023962</c:v>
                </c:pt>
                <c:pt idx="1">
                  <c:v>0.007323280611176369</c:v>
                </c:pt>
                <c:pt idx="2">
                  <c:v>0.13598560753383415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Mutual Funds</c:v>
                </c:pt>
              </c:strCache>
            </c:strRef>
          </c:tx>
          <c:spPr>
            <a:solidFill>
              <a:srgbClr val="7C3AED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0.0422374121411494</c:v>
                </c:pt>
                <c:pt idx="1">
                  <c:v>0.11647059002073071</c:v>
                </c:pt>
                <c:pt idx="2">
                  <c:v>0.07355409020463363</c:v>
                </c:pt>
                <c:pt idx="3">
                  <c:v>0.035951037523510004</c:v>
                </c:pt>
                <c:pt idx="4">
                  <c:v>0.05561589151268768</c:v>
                </c:pt>
                <c:pt idx="5">
                  <c:v>0.07578136149564721</c:v>
                </c:pt>
                <c:pt idx="6">
                  <c:v>0.013606490039022385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7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Sovereign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0.32</c:v>
                </c:pt>
                <c:pt idx="1">
                  <c:v>0.3589</c:v>
                </c:pt>
                <c:pt idx="2">
                  <c:v>0</c:v>
                </c:pt>
                <c:pt idx="3">
                  <c:v>0.38</c:v>
                </c:pt>
                <c:pt idx="4">
                  <c:v>0.61</c:v>
                </c:pt>
                <c:pt idx="5">
                  <c:v>1</c:v>
                </c:pt>
                <c:pt idx="6">
                  <c:v>0.5957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AAA rated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0.6</c:v>
                </c:pt>
                <c:pt idx="1">
                  <c:v>0.4135</c:v>
                </c:pt>
                <c:pt idx="2">
                  <c:v>0</c:v>
                </c:pt>
                <c:pt idx="3">
                  <c:v>0.62</c:v>
                </c:pt>
                <c:pt idx="4">
                  <c:v>0.36</c:v>
                </c:pt>
                <c:pt idx="5">
                  <c:v>0</c:v>
                </c:pt>
                <c:pt idx="6">
                  <c:v>0.3781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AA or better</c:v>
                </c:pt>
              </c:strCache>
            </c:strRef>
          </c:tx>
          <c:spPr>
            <a:solidFill>
              <a:srgbClr val="70AD47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0.08</c:v>
                </c:pt>
                <c:pt idx="1">
                  <c:v>0.1937</c:v>
                </c:pt>
                <c:pt idx="2">
                  <c:v>0</c:v>
                </c:pt>
                <c:pt idx="3">
                  <c:v>0</c:v>
                </c:pt>
                <c:pt idx="4">
                  <c:v>0.02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Rated below AA but above A</c:v>
                </c:pt>
              </c:strCache>
            </c:strRef>
          </c:tx>
          <c:spPr>
            <a:solidFill>
              <a:srgbClr val="FFC000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0</c:v>
                </c:pt>
                <c:pt idx="1">
                  <c:v>0.0338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Rated below A</c:v>
                </c:pt>
              </c:strCache>
            </c:strRef>
          </c:tx>
          <c:spPr>
            <a:solidFill>
              <a:srgbClr val="7C3AED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7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Sovereign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0.31</c:v>
                </c:pt>
                <c:pt idx="1">
                  <c:v>0.3752</c:v>
                </c:pt>
                <c:pt idx="2">
                  <c:v>0</c:v>
                </c:pt>
                <c:pt idx="3">
                  <c:v>0.43</c:v>
                </c:pt>
                <c:pt idx="4">
                  <c:v>0.66</c:v>
                </c:pt>
                <c:pt idx="5">
                  <c:v>1</c:v>
                </c:pt>
                <c:pt idx="6">
                  <c:v>0.7285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AAA rated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0.63</c:v>
                </c:pt>
                <c:pt idx="1">
                  <c:v>0.394</c:v>
                </c:pt>
                <c:pt idx="2">
                  <c:v>0</c:v>
                </c:pt>
                <c:pt idx="3">
                  <c:v>0.57</c:v>
                </c:pt>
                <c:pt idx="4">
                  <c:v>0.31</c:v>
                </c:pt>
                <c:pt idx="5">
                  <c:v>0</c:v>
                </c:pt>
                <c:pt idx="6">
                  <c:v>0.2608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AA or better</c:v>
                </c:pt>
              </c:strCache>
            </c:strRef>
          </c:tx>
          <c:spPr>
            <a:solidFill>
              <a:srgbClr val="70AD47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0.06</c:v>
                </c:pt>
                <c:pt idx="1">
                  <c:v>0.1922</c:v>
                </c:pt>
                <c:pt idx="2">
                  <c:v>0</c:v>
                </c:pt>
                <c:pt idx="3">
                  <c:v>0</c:v>
                </c:pt>
                <c:pt idx="4">
                  <c:v>0.02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Rated below AA but above A</c:v>
                </c:pt>
              </c:strCache>
            </c:strRef>
          </c:tx>
          <c:spPr>
            <a:solidFill>
              <a:srgbClr val="FFC000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0</c:v>
                </c:pt>
                <c:pt idx="1">
                  <c:v>0.0372</c:v>
                </c:pt>
                <c:pt idx="2">
                  <c:v>0</c:v>
                </c:pt>
                <c:pt idx="3">
                  <c:v>0</c:v>
                </c:pt>
                <c:pt idx="4">
                  <c:v>0.01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Rated below A</c:v>
                </c:pt>
              </c:strCache>
            </c:strRef>
          </c:tx>
          <c:spPr>
            <a:solidFill>
              <a:srgbClr val="7C3AED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0</c:v>
                </c:pt>
                <c:pt idx="1">
                  <c:v>0.0014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7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Up to 1 year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0.08</c:v>
                </c:pt>
                <c:pt idx="1">
                  <c:v>0.1708</c:v>
                </c:pt>
                <c:pt idx="2">
                  <c:v>0</c:v>
                </c:pt>
                <c:pt idx="3">
                  <c:v>0.16</c:v>
                </c:pt>
                <c:pt idx="4">
                  <c:v>0.11</c:v>
                </c:pt>
                <c:pt idx="5">
                  <c:v>0</c:v>
                </c:pt>
                <c:pt idx="6">
                  <c:v>0.0313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More than 1 year and upto 3 years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0.24</c:v>
                </c:pt>
                <c:pt idx="1">
                  <c:v>0.1614</c:v>
                </c:pt>
                <c:pt idx="2">
                  <c:v>0</c:v>
                </c:pt>
                <c:pt idx="3">
                  <c:v>0.36</c:v>
                </c:pt>
                <c:pt idx="4">
                  <c:v>0.23</c:v>
                </c:pt>
                <c:pt idx="5">
                  <c:v>0</c:v>
                </c:pt>
                <c:pt idx="6">
                  <c:v>0.2927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More than 3 years and upto 7 years</c:v>
                </c:pt>
              </c:strCache>
            </c:strRef>
          </c:tx>
          <c:spPr>
            <a:solidFill>
              <a:srgbClr val="70AD47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0.32</c:v>
                </c:pt>
                <c:pt idx="1">
                  <c:v>0.5117</c:v>
                </c:pt>
                <c:pt idx="2">
                  <c:v>0</c:v>
                </c:pt>
                <c:pt idx="3">
                  <c:v>0.16</c:v>
                </c:pt>
                <c:pt idx="4">
                  <c:v>0.18</c:v>
                </c:pt>
                <c:pt idx="5">
                  <c:v>0.33</c:v>
                </c:pt>
                <c:pt idx="6">
                  <c:v>0.4344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More than 7 years and upto 10 years</c:v>
                </c:pt>
              </c:strCache>
            </c:strRef>
          </c:tx>
          <c:spPr>
            <a:solidFill>
              <a:srgbClr val="FFC000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0.22</c:v>
                </c:pt>
                <c:pt idx="1">
                  <c:v>0.1067</c:v>
                </c:pt>
                <c:pt idx="2">
                  <c:v>0</c:v>
                </c:pt>
                <c:pt idx="3">
                  <c:v>0.24</c:v>
                </c:pt>
                <c:pt idx="4">
                  <c:v>0.22</c:v>
                </c:pt>
                <c:pt idx="5">
                  <c:v>0</c:v>
                </c:pt>
                <c:pt idx="6">
                  <c:v>0.216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Above 10 years</c:v>
                </c:pt>
              </c:strCache>
            </c:strRef>
          </c:tx>
          <c:spPr>
            <a:solidFill>
              <a:srgbClr val="7C3AED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0.14</c:v>
                </c:pt>
                <c:pt idx="1">
                  <c:v>0.0495</c:v>
                </c:pt>
                <c:pt idx="2">
                  <c:v>0</c:v>
                </c:pt>
                <c:pt idx="3">
                  <c:v>0.09</c:v>
                </c:pt>
                <c:pt idx="4">
                  <c:v>0.2</c:v>
                </c:pt>
                <c:pt idx="5">
                  <c:v>0.67</c:v>
                </c:pt>
                <c:pt idx="6">
                  <c:v>0.0255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7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Up to 1 year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0.1</c:v>
                </c:pt>
                <c:pt idx="1">
                  <c:v>0.1267</c:v>
                </c:pt>
                <c:pt idx="2">
                  <c:v>0</c:v>
                </c:pt>
                <c:pt idx="3">
                  <c:v>0.06</c:v>
                </c:pt>
                <c:pt idx="4">
                  <c:v>0.08</c:v>
                </c:pt>
                <c:pt idx="5">
                  <c:v>0.21</c:v>
                </c:pt>
                <c:pt idx="6">
                  <c:v>0.0107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More than 1 year and upto 3 years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0.2</c:v>
                </c:pt>
                <c:pt idx="1">
                  <c:v>0.1596</c:v>
                </c:pt>
                <c:pt idx="2">
                  <c:v>0</c:v>
                </c:pt>
                <c:pt idx="3">
                  <c:v>0.34</c:v>
                </c:pt>
                <c:pt idx="4">
                  <c:v>0.22</c:v>
                </c:pt>
                <c:pt idx="5">
                  <c:v>0</c:v>
                </c:pt>
                <c:pt idx="6">
                  <c:v>0.1707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More than 3 years and upto 7 years</c:v>
                </c:pt>
              </c:strCache>
            </c:strRef>
          </c:tx>
          <c:spPr>
            <a:solidFill>
              <a:srgbClr val="70AD47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0.4</c:v>
                </c:pt>
                <c:pt idx="1">
                  <c:v>0.5385</c:v>
                </c:pt>
                <c:pt idx="2">
                  <c:v>0</c:v>
                </c:pt>
                <c:pt idx="3">
                  <c:v>0.4</c:v>
                </c:pt>
                <c:pt idx="4">
                  <c:v>0.35</c:v>
                </c:pt>
                <c:pt idx="5">
                  <c:v>0.29</c:v>
                </c:pt>
                <c:pt idx="6">
                  <c:v>0.6388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More than 7 years and upto 10 years</c:v>
                </c:pt>
              </c:strCache>
            </c:strRef>
          </c:tx>
          <c:spPr>
            <a:solidFill>
              <a:srgbClr val="FFC000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0.2</c:v>
                </c:pt>
                <c:pt idx="1">
                  <c:v>0.1482</c:v>
                </c:pt>
                <c:pt idx="2">
                  <c:v>0</c:v>
                </c:pt>
                <c:pt idx="3">
                  <c:v>0.14</c:v>
                </c:pt>
                <c:pt idx="4">
                  <c:v>0.15</c:v>
                </c:pt>
                <c:pt idx="5">
                  <c:v>0</c:v>
                </c:pt>
                <c:pt idx="6">
                  <c:v>0.1798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Above 10 years</c:v>
                </c:pt>
              </c:strCache>
            </c:strRef>
          </c:tx>
          <c:spPr>
            <a:solidFill>
              <a:srgbClr val="7C3AED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0.1</c:v>
                </c:pt>
                <c:pt idx="1">
                  <c:v>0.027</c:v>
                </c:pt>
                <c:pt idx="2">
                  <c:v>0</c:v>
                </c:pt>
                <c:pt idx="3">
                  <c:v>0.06</c:v>
                </c:pt>
                <c:pt idx="4">
                  <c:v>0.15</c:v>
                </c:pt>
                <c:pt idx="5">
                  <c:v>0.5</c:v>
                </c:pt>
                <c:pt idx="6">
                  <c:v>0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7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FY25_Q3</c:v>
                </c:pt>
              </c:strCache>
            </c:strRef>
          </c:tx>
          <c:spPr>
            <a:solidFill>
              <a:srgbClr val="2E5495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4683.58</c:v>
                </c:pt>
                <c:pt idx="1">
                  <c:v>11603.13</c:v>
                </c:pt>
                <c:pt idx="2">
                  <c:v>5781.79</c:v>
                </c:pt>
                <c:pt idx="3">
                  <c:v>1209.68</c:v>
                </c:pt>
                <c:pt idx="4">
                  <c:v>3218.57</c:v>
                </c:pt>
                <c:pt idx="5">
                  <c:v>0.65</c:v>
                </c:pt>
                <c:pt idx="6">
                  <c:v>2.38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FY26_Q3</c:v>
                </c:pt>
              </c:strCache>
            </c:strRef>
          </c:tx>
          <c:spPr>
            <a:solidFill>
              <a:srgbClr val="A6A6A6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5706.25</c:v>
                </c:pt>
                <c:pt idx="1">
                  <c:v>12638.21</c:v>
                </c:pt>
                <c:pt idx="2">
                  <c:v>6609.78</c:v>
                </c:pt>
                <c:pt idx="3">
                  <c:v>1545.42</c:v>
                </c:pt>
                <c:pt idx="4">
                  <c:v>4418.17</c:v>
                </c:pt>
                <c:pt idx="5">
                  <c:v>23.95</c:v>
                </c:pt>
                <c:pt idx="6">
                  <c:v>75.9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FY25_Q3</c:v>
                </c:pt>
              </c:strCache>
            </c:strRef>
          </c:tx>
          <c:spPr>
            <a:solidFill>
              <a:srgbClr val="2E5495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7.44</c:v>
                </c:pt>
                <c:pt idx="1">
                  <c:v>861.92</c:v>
                </c:pt>
                <c:pt idx="2">
                  <c:v>14.49</c:v>
                </c:pt>
                <c:pt idx="3">
                  <c:v>-215.08</c:v>
                </c:pt>
                <c:pt idx="4">
                  <c:v>-199.11</c:v>
                </c:pt>
                <c:pt idx="5">
                  <c:v>-3.1</c:v>
                </c:pt>
                <c:pt idx="6">
                  <c:v>-30.99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FY26_Q3</c:v>
                </c:pt>
              </c:strCache>
            </c:strRef>
          </c:tx>
          <c:spPr>
            <a:solidFill>
              <a:srgbClr val="A6A6A6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-214.35</c:v>
                </c:pt>
                <c:pt idx="1">
                  <c:v>603.12</c:v>
                </c:pt>
                <c:pt idx="2">
                  <c:v>-89.33</c:v>
                </c:pt>
                <c:pt idx="3">
                  <c:v>-444.71</c:v>
                </c:pt>
                <c:pt idx="4">
                  <c:v>-179.62</c:v>
                </c:pt>
                <c:pt idx="5">
                  <c:v>-3.17</c:v>
                </c:pt>
                <c:pt idx="6">
                  <c:v>-75.57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FY25_Q3</c:v>
                </c:pt>
              </c:strCache>
            </c:strRef>
          </c:tx>
          <c:spPr>
            <a:solidFill>
              <a:srgbClr val="2E5495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1.0504</c:v>
                </c:pt>
                <c:pt idx="1">
                  <c:v>1.0181</c:v>
                </c:pt>
                <c:pt idx="2">
                  <c:v>1.05</c:v>
                </c:pt>
                <c:pt idx="3">
                  <c:v>1.26</c:v>
                </c:pt>
                <c:pt idx="4">
                  <c:v>1.13</c:v>
                </c:pt>
                <c:pt idx="5">
                  <c:v>9.13</c:v>
                </c:pt>
                <c:pt idx="6">
                  <c:v>21.4474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FY26_Q3</c:v>
                </c:pt>
              </c:strCache>
            </c:strRef>
          </c:tx>
          <c:spPr>
            <a:solidFill>
              <a:srgbClr val="A6A6A6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1.1188</c:v>
                </c:pt>
                <c:pt idx="1">
                  <c:v>1.0268</c:v>
                </c:pt>
                <c:pt idx="2">
                  <c:v>1.1</c:v>
                </c:pt>
                <c:pt idx="3">
                  <c:v>1.33</c:v>
                </c:pt>
                <c:pt idx="4">
                  <c:v>1.11</c:v>
                </c:pt>
                <c:pt idx="5">
                  <c:v>1.66</c:v>
                </c:pt>
                <c:pt idx="6">
                  <c:v>1.9001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FY25_Q3</c:v>
                </c:pt>
              </c:strCache>
            </c:strRef>
          </c:tx>
          <c:spPr>
            <a:solidFill>
              <a:srgbClr val="2E5495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0.6341</c:v>
                </c:pt>
                <c:pt idx="1">
                  <c:v>0.7066</c:v>
                </c:pt>
                <c:pt idx="2">
                  <c:v>0.67</c:v>
                </c:pt>
                <c:pt idx="3">
                  <c:v>0.79</c:v>
                </c:pt>
                <c:pt idx="4">
                  <c:v>0.77</c:v>
                </c:pt>
                <c:pt idx="5">
                  <c:v>0.7</c:v>
                </c:pt>
                <c:pt idx="6">
                  <c:v>0.1051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FY26_Q3</c:v>
                </c:pt>
              </c:strCache>
            </c:strRef>
          </c:tx>
          <c:spPr>
            <a:solidFill>
              <a:srgbClr val="A6A6A6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0.7357</c:v>
                </c:pt>
                <c:pt idx="1">
                  <c:v>0.6985</c:v>
                </c:pt>
                <c:pt idx="2">
                  <c:v>0.74</c:v>
                </c:pt>
                <c:pt idx="3">
                  <c:v>0.96</c:v>
                </c:pt>
                <c:pt idx="4">
                  <c:v>0.83</c:v>
                </c:pt>
                <c:pt idx="5">
                  <c:v>0.78</c:v>
                </c:pt>
                <c:pt idx="6">
                  <c:v>0.3286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FY25_Q3</c:v>
                </c:pt>
              </c:strCache>
            </c:strRef>
          </c:tx>
          <c:spPr>
            <a:solidFill>
              <a:srgbClr val="2E5495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0.5131</c:v>
                </c:pt>
                <c:pt idx="1">
                  <c:v>0.3115</c:v>
                </c:pt>
                <c:pt idx="2">
                  <c:v>0.38</c:v>
                </c:pt>
                <c:pt idx="3">
                  <c:v>0.47</c:v>
                </c:pt>
                <c:pt idx="4">
                  <c:v>0.36</c:v>
                </c:pt>
                <c:pt idx="5">
                  <c:v>9.15</c:v>
                </c:pt>
                <c:pt idx="6">
                  <c:v>21.3424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FY26_Q3</c:v>
                </c:pt>
              </c:strCache>
            </c:strRef>
          </c:tx>
          <c:spPr>
            <a:solidFill>
              <a:srgbClr val="A6A6A6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0.4602</c:v>
                </c:pt>
                <c:pt idx="1">
                  <c:v>0.3283</c:v>
                </c:pt>
                <c:pt idx="2">
                  <c:v>0.36</c:v>
                </c:pt>
                <c:pt idx="3">
                  <c:v>0.36</c:v>
                </c:pt>
                <c:pt idx="4">
                  <c:v>0.28</c:v>
                </c:pt>
                <c:pt idx="5">
                  <c:v>0.87</c:v>
                </c:pt>
                <c:pt idx="6">
                  <c:v>1.5715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FY25_Q3</c:v>
                </c:pt>
              </c:strCache>
            </c:strRef>
          </c:tx>
          <c:spPr>
            <a:solidFill>
              <a:srgbClr val="2E5495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0.405</c:v>
                </c:pt>
                <c:pt idx="1">
                  <c:v>0.3167</c:v>
                </c:pt>
                <c:pt idx="2">
                  <c:v>0.36</c:v>
                </c:pt>
                <c:pt idx="3">
                  <c:v>0.46</c:v>
                </c:pt>
                <c:pt idx="4">
                  <c:v>0.42</c:v>
                </c:pt>
                <c:pt idx="5">
                  <c:v>8.79</c:v>
                </c:pt>
                <c:pt idx="6">
                  <c:v>19.7788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FY26_Q3</c:v>
                </c:pt>
              </c:strCache>
            </c:strRef>
          </c:tx>
          <c:spPr>
            <a:solidFill>
              <a:srgbClr val="A6A6A6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0.3633</c:v>
                </c:pt>
                <c:pt idx="1">
                  <c:v>0.3317</c:v>
                </c:pt>
                <c:pt idx="2">
                  <c:v>0.35</c:v>
                </c:pt>
                <c:pt idx="3">
                  <c:v>0.4</c:v>
                </c:pt>
                <c:pt idx="4">
                  <c:v>0.38</c:v>
                </c:pt>
                <c:pt idx="5">
                  <c:v>0.84</c:v>
                </c:pt>
                <c:pt idx="6">
                  <c:v>1.5024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FY26_Q3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0.2103</c:v>
                </c:pt>
                <c:pt idx="1">
                  <c:v>0.0476</c:v>
                </c:pt>
                <c:pt idx="2">
                  <c:v>0.2763</c:v>
                </c:pt>
                <c:pt idx="3">
                  <c:v>0.0417</c:v>
                </c:pt>
                <c:pt idx="4">
                  <c:v>0.2891</c:v>
                </c:pt>
                <c:pt idx="5">
                  <c:v>0.0401</c:v>
                </c:pt>
                <c:pt idx="6">
                  <c:v>0.0485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FY26_Q3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0.3449</c:v>
                </c:pt>
                <c:pt idx="1">
                  <c:v>0.3916</c:v>
                </c:pt>
                <c:pt idx="2">
                  <c:v>0.2873</c:v>
                </c:pt>
                <c:pt idx="3">
                  <c:v>0.1767</c:v>
                </c:pt>
                <c:pt idx="4">
                  <c:v>0.5897</c:v>
                </c:pt>
                <c:pt idx="5">
                  <c:v>-0.0729</c:v>
                </c:pt>
                <c:pt idx="6">
                  <c:v>0.1467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FY26_Q3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-0.0745</c:v>
                </c:pt>
                <c:pt idx="1">
                  <c:v>0.0605</c:v>
                </c:pt>
                <c:pt idx="2">
                  <c:v>-0.0276</c:v>
                </c:pt>
                <c:pt idx="3">
                  <c:v>-0.7766</c:v>
                </c:pt>
                <c:pt idx="4">
                  <c:v>-0.1272</c:v>
                </c:pt>
                <c:pt idx="5">
                  <c:v>-0.1519</c:v>
                </c:pt>
                <c:pt idx="6">
                  <c:v>-0.3506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FY25_Q3</c:v>
                </c:pt>
              </c:strCache>
            </c:strRef>
          </c:tx>
          <c:spPr>
            <a:solidFill>
              <a:srgbClr val="2E5495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3.03</c:v>
                </c:pt>
                <c:pt idx="1">
                  <c:v>2.22</c:v>
                </c:pt>
                <c:pt idx="2">
                  <c:v>1.56</c:v>
                </c:pt>
                <c:pt idx="3">
                  <c:v>1.57</c:v>
                </c:pt>
                <c:pt idx="4">
                  <c:v>1.64</c:v>
                </c:pt>
                <c:pt idx="5">
                  <c:v>1.77</c:v>
                </c:pt>
                <c:pt idx="6">
                  <c:v>5.21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FY26_Q3</c:v>
                </c:pt>
              </c:strCache>
            </c:strRef>
          </c:tx>
          <c:spPr>
            <a:solidFill>
              <a:srgbClr val="A6A6A6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2.49</c:v>
                </c:pt>
                <c:pt idx="1">
                  <c:v>2.14</c:v>
                </c:pt>
                <c:pt idx="2">
                  <c:v>1.7</c:v>
                </c:pt>
                <c:pt idx="3">
                  <c:v>1.56</c:v>
                </c:pt>
                <c:pt idx="4">
                  <c:v>1.53</c:v>
                </c:pt>
                <c:pt idx="5">
                  <c:v>1.7</c:v>
                </c:pt>
                <c:pt idx="6">
                  <c:v>3.18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FY25_Q3</c:v>
                </c:pt>
              </c:strCache>
            </c:strRef>
          </c:tx>
          <c:spPr>
            <a:solidFill>
              <a:srgbClr val="2E5495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7310.73</c:v>
                </c:pt>
                <c:pt idx="1">
                  <c:v>16666.36</c:v>
                </c:pt>
                <c:pt idx="2">
                  <c:v>7732.79</c:v>
                </c:pt>
                <c:pt idx="3">
                  <c:v>1861.44</c:v>
                </c:pt>
                <c:pt idx="4">
                  <c:v>3889.74</c:v>
                </c:pt>
                <c:pt idx="5">
                  <c:v>86</c:v>
                </c:pt>
                <c:pt idx="6">
                  <c:v>247.02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FY26_Q3</c:v>
                </c:pt>
              </c:strCache>
            </c:strRef>
          </c:tx>
          <c:spPr>
            <a:solidFill>
              <a:srgbClr val="A6A6A6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8927.39</c:v>
                </c:pt>
                <c:pt idx="1">
                  <c:v>19200.06</c:v>
                </c:pt>
                <c:pt idx="2">
                  <c:v>10246.11</c:v>
                </c:pt>
                <c:pt idx="3">
                  <c:v>2865.79</c:v>
                </c:pt>
                <c:pt idx="4">
                  <c:v>5253.4</c:v>
                </c:pt>
                <c:pt idx="5">
                  <c:v>104.07</c:v>
                </c:pt>
                <c:pt idx="6">
                  <c:v>200.33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FY25_Q3</c:v>
                </c:pt>
              </c:strCache>
            </c:strRef>
          </c:tx>
          <c:spPr>
            <a:solidFill>
              <a:srgbClr val="2E5495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0.0555</c:v>
                </c:pt>
                <c:pt idx="1">
                  <c:v>0.0619</c:v>
                </c:pt>
                <c:pt idx="2">
                  <c:v>0.055</c:v>
                </c:pt>
                <c:pt idx="3">
                  <c:v>0.0559</c:v>
                </c:pt>
                <c:pt idx="4">
                  <c:v>0.05690000000000001</c:v>
                </c:pt>
                <c:pt idx="5">
                  <c:v>0.0442</c:v>
                </c:pt>
                <c:pt idx="6">
                  <c:v>0.042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FY26_Q3</c:v>
                </c:pt>
              </c:strCache>
            </c:strRef>
          </c:tx>
          <c:spPr>
            <a:solidFill>
              <a:srgbClr val="A6A6A6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0.0545</c:v>
                </c:pt>
                <c:pt idx="1">
                  <c:v>0.0495</c:v>
                </c:pt>
                <c:pt idx="2">
                  <c:v>0.055</c:v>
                </c:pt>
                <c:pt idx="3">
                  <c:v>0.0579</c:v>
                </c:pt>
                <c:pt idx="4">
                  <c:v>0.0551</c:v>
                </c:pt>
                <c:pt idx="5">
                  <c:v>0.0458</c:v>
                </c:pt>
                <c:pt idx="6">
                  <c:v>0.0602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FY25_Q3</c:v>
                </c:pt>
              </c:strCache>
            </c:strRef>
          </c:tx>
          <c:spPr>
            <a:solidFill>
              <a:srgbClr val="2E5495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3957.27</c:v>
                </c:pt>
                <c:pt idx="1">
                  <c:v>9698.18</c:v>
                </c:pt>
                <c:pt idx="2">
                  <c:v>5517.78</c:v>
                </c:pt>
                <c:pt idx="3">
                  <c:v>1265.66</c:v>
                </c:pt>
                <c:pt idx="4">
                  <c:v>2951.23</c:v>
                </c:pt>
                <c:pt idx="5">
                  <c:v>0.58</c:v>
                </c:pt>
                <c:pt idx="6">
                  <c:v>1.42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FY26_Q3</c:v>
                </c:pt>
              </c:strCache>
            </c:strRef>
          </c:tx>
          <c:spPr>
            <a:solidFill>
              <a:srgbClr val="A6A6A6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5535.97</c:v>
                </c:pt>
                <c:pt idx="1">
                  <c:v>11658.07</c:v>
                </c:pt>
                <c:pt idx="2">
                  <c:v>7650.26</c:v>
                </c:pt>
                <c:pt idx="3">
                  <c:v>1965.01</c:v>
                </c:pt>
                <c:pt idx="4">
                  <c:v>4244.3</c:v>
                </c:pt>
                <c:pt idx="5">
                  <c:v>20.37</c:v>
                </c:pt>
                <c:pt idx="6">
                  <c:v>52.46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FY25_Q3</c:v>
                </c:pt>
              </c:strCache>
            </c:strRef>
          </c:tx>
          <c:spPr>
            <a:solidFill>
              <a:srgbClr val="2E5495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3353.46</c:v>
                </c:pt>
                <c:pt idx="1">
                  <c:v>6968.18</c:v>
                </c:pt>
                <c:pt idx="2">
                  <c:v>2215.01</c:v>
                </c:pt>
                <c:pt idx="3">
                  <c:v>595.78</c:v>
                </c:pt>
                <c:pt idx="4">
                  <c:v>938.51</c:v>
                </c:pt>
                <c:pt idx="5">
                  <c:v>85.41</c:v>
                </c:pt>
                <c:pt idx="6">
                  <c:v>245.6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FY26_Q3</c:v>
                </c:pt>
              </c:strCache>
            </c:strRef>
          </c:tx>
          <c:spPr>
            <a:solidFill>
              <a:srgbClr val="A6A6A6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3391.42</c:v>
                </c:pt>
                <c:pt idx="1">
                  <c:v>7541.99</c:v>
                </c:pt>
                <c:pt idx="2">
                  <c:v>2595.85</c:v>
                </c:pt>
                <c:pt idx="3">
                  <c:v>900.78</c:v>
                </c:pt>
                <c:pt idx="4">
                  <c:v>1009.1</c:v>
                </c:pt>
                <c:pt idx="5">
                  <c:v>83.69</c:v>
                </c:pt>
                <c:pt idx="6">
                  <c:v>147.87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FY26_Q3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10137</c:v>
                </c:pt>
                <c:pt idx="1">
                  <c:v>18320</c:v>
                </c:pt>
                <c:pt idx="2">
                  <c:v>11489</c:v>
                </c:pt>
                <c:pt idx="3">
                  <c:v>3640</c:v>
                </c:pt>
                <c:pt idx="4">
                  <c:v>7126</c:v>
                </c:pt>
                <c:pt idx="5">
                  <c:v>127</c:v>
                </c:pt>
                <c:pt idx="6">
                  <c:v>1915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FY26_Q3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224810</c:v>
                </c:pt>
                <c:pt idx="1">
                  <c:v>818649</c:v>
                </c:pt>
                <c:pt idx="2">
                  <c:v>400370</c:v>
                </c:pt>
                <c:pt idx="3">
                  <c:v>100506</c:v>
                </c:pt>
                <c:pt idx="4">
                  <c:v>163606</c:v>
                </c:pt>
                <c:pt idx="5">
                  <c:v>0</c:v>
                </c:pt>
                <c:pt idx="6">
                  <c:v>10680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FY26_Q3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210</c:v>
                </c:pt>
                <c:pt idx="1">
                  <c:v>918</c:v>
                </c:pt>
                <c:pt idx="2">
                  <c:v>274</c:v>
                </c:pt>
                <c:pt idx="3">
                  <c:v>120</c:v>
                </c:pt>
                <c:pt idx="4">
                  <c:v>229</c:v>
                </c:pt>
                <c:pt idx="5">
                  <c:v>4</c:v>
                </c:pt>
                <c:pt idx="6">
                  <c:v>72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Individual Agents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224810</c:v>
                </c:pt>
                <c:pt idx="1">
                  <c:v>818649</c:v>
                </c:pt>
                <c:pt idx="2">
                  <c:v>400370</c:v>
                </c:pt>
                <c:pt idx="3">
                  <c:v>100506</c:v>
                </c:pt>
                <c:pt idx="4">
                  <c:v>163606</c:v>
                </c:pt>
                <c:pt idx="5">
                  <c:v>0</c:v>
                </c:pt>
                <c:pt idx="6">
                  <c:v>10680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CA-Banks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26</c:v>
                </c:pt>
                <c:pt idx="1">
                  <c:v>36</c:v>
                </c:pt>
                <c:pt idx="2">
                  <c:v>59</c:v>
                </c:pt>
                <c:pt idx="3">
                  <c:v>28</c:v>
                </c:pt>
                <c:pt idx="4">
                  <c:v>20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CA-Others</c:v>
                </c:pt>
              </c:strCache>
            </c:strRef>
          </c:tx>
          <c:spPr>
            <a:solidFill>
              <a:srgbClr val="70AD47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90</c:v>
                </c:pt>
                <c:pt idx="1">
                  <c:v>78</c:v>
                </c:pt>
                <c:pt idx="2">
                  <c:v>171</c:v>
                </c:pt>
                <c:pt idx="3">
                  <c:v>79</c:v>
                </c:pt>
                <c:pt idx="4">
                  <c:v>66</c:v>
                </c:pt>
                <c:pt idx="5">
                  <c:v>0</c:v>
                </c:pt>
                <c:pt idx="6">
                  <c:v>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Brokers</c:v>
                </c:pt>
              </c:strCache>
            </c:strRef>
          </c:tx>
          <c:spPr>
            <a:solidFill>
              <a:srgbClr val="FFC000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576</c:v>
                </c:pt>
                <c:pt idx="1">
                  <c:v>515</c:v>
                </c:pt>
                <c:pt idx="2">
                  <c:v>624</c:v>
                </c:pt>
                <c:pt idx="3">
                  <c:v>482</c:v>
                </c:pt>
                <c:pt idx="4">
                  <c:v>425</c:v>
                </c:pt>
                <c:pt idx="5">
                  <c:v>5</c:v>
                </c:pt>
                <c:pt idx="6">
                  <c:v>64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WA</c:v>
                </c:pt>
              </c:strCache>
            </c:strRef>
          </c:tx>
          <c:spPr>
            <a:solidFill>
              <a:srgbClr val="7C3AED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10</c:v>
                </c:pt>
                <c:pt idx="1">
                  <c:v>6</c:v>
                </c:pt>
                <c:pt idx="2">
                  <c:v>7</c:v>
                </c:pt>
                <c:pt idx="3">
                  <c:v>9</c:v>
                </c:pt>
                <c:pt idx="4">
                  <c:v>7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IMF</c:v>
                </c:pt>
              </c:strCache>
            </c:strRef>
          </c:tx>
          <c:spPr>
            <a:solidFill>
              <a:srgbClr val="264E70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Sheet1!$G$2:$G$8</c:f>
              <c:numCache>
                <c:formatCode>General</c:formatCode>
                <c:ptCount val="7"/>
                <c:pt idx="0">
                  <c:v>291</c:v>
                </c:pt>
                <c:pt idx="1">
                  <c:v>100</c:v>
                </c:pt>
                <c:pt idx="2">
                  <c:v>279</c:v>
                </c:pt>
                <c:pt idx="3">
                  <c:v>188</c:v>
                </c:pt>
                <c:pt idx="4">
                  <c:v>83</c:v>
                </c:pt>
                <c:pt idx="5">
                  <c:v>0</c:v>
                </c:pt>
                <c:pt idx="6">
                  <c:v>5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POS</c:v>
                </c:pt>
              </c:strCache>
            </c:strRef>
          </c:tx>
          <c:spPr>
            <a:solidFill>
              <a:srgbClr val="C00000"/>
            </a:solidFill>
          </c:spPr>
          <c:cat>
            <c:strRef>
              <c:f>Sheet1!$A$2:$A$8</c:f>
              <c:strCache>
                <c:ptCount val="7"/>
                <c:pt idx="0">
                  <c:v>NBHI</c:v>
                </c:pt>
                <c:pt idx="1">
                  <c:v>STAR</c:v>
                </c:pt>
                <c:pt idx="2">
                  <c:v>CARE</c:v>
                </c:pt>
                <c:pt idx="3">
                  <c:v>CIGNA</c:v>
                </c:pt>
                <c:pt idx="4">
                  <c:v>ABHI</c:v>
                </c:pt>
                <c:pt idx="5">
                  <c:v>Narayana</c:v>
                </c:pt>
                <c:pt idx="6">
                  <c:v>Galaxy</c:v>
                </c:pt>
              </c:strCache>
            </c:strRef>
          </c:cat>
          <c:val>
            <c:numRef>
              <c:f>Sheet1!$H$2:$H$8</c:f>
              <c:numCache>
                <c:formatCode>General</c:formatCode>
                <c:ptCount val="7"/>
                <c:pt idx="0">
                  <c:v>31043</c:v>
                </c:pt>
                <c:pt idx="1">
                  <c:v>8480</c:v>
                </c:pt>
                <c:pt idx="2">
                  <c:v>72072</c:v>
                </c:pt>
                <c:pt idx="3">
                  <c:v>0</c:v>
                </c:pt>
                <c:pt idx="4">
                  <c:v>12825</c:v>
                </c:pt>
                <c:pt idx="5">
                  <c:v>0</c:v>
                </c:pt>
                <c:pt idx="6">
                  <c:v>1431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7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5" Type="http://schemas.openxmlformats.org/officeDocument/2006/relationships/chart" Target="../charts/chart3.xml"/><Relationship Id="rId6" Type="http://schemas.openxmlformats.org/officeDocument/2006/relationships/chart" Target="../charts/char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5.xml"/><Relationship Id="rId4" Type="http://schemas.openxmlformats.org/officeDocument/2006/relationships/chart" Target="../charts/chart6.xml"/><Relationship Id="rId5" Type="http://schemas.openxmlformats.org/officeDocument/2006/relationships/chart" Target="../charts/chart7.xml"/><Relationship Id="rId6" Type="http://schemas.openxmlformats.org/officeDocument/2006/relationships/chart" Target="../charts/char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9.xml"/><Relationship Id="rId4" Type="http://schemas.openxmlformats.org/officeDocument/2006/relationships/chart" Target="../charts/chart1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5.xml"/><Relationship Id="rId4" Type="http://schemas.openxmlformats.org/officeDocument/2006/relationships/chart" Target="../charts/chart1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20.xml"/><Relationship Id="rId4" Type="http://schemas.openxmlformats.org/officeDocument/2006/relationships/chart" Target="../charts/chart2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22.xml"/><Relationship Id="rId4" Type="http://schemas.openxmlformats.org/officeDocument/2006/relationships/chart" Target="../charts/chart2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2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2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26.xml"/><Relationship Id="rId4" Type="http://schemas.openxmlformats.org/officeDocument/2006/relationships/chart" Target="../charts/chart27.xml"/><Relationship Id="rId5" Type="http://schemas.openxmlformats.org/officeDocument/2006/relationships/chart" Target="../charts/chart2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29.xml"/><Relationship Id="rId4" Type="http://schemas.openxmlformats.org/officeDocument/2006/relationships/chart" Target="../charts/chart30.xml"/><Relationship Id="rId5" Type="http://schemas.openxmlformats.org/officeDocument/2006/relationships/chart" Target="../charts/chart3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32.xml"/><Relationship Id="rId4" Type="http://schemas.openxmlformats.org/officeDocument/2006/relationships/chart" Target="../charts/chart33.xml"/><Relationship Id="rId5" Type="http://schemas.openxmlformats.org/officeDocument/2006/relationships/chart" Target="../charts/chart3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35.xml"/><Relationship Id="rId4" Type="http://schemas.openxmlformats.org/officeDocument/2006/relationships/chart" Target="../charts/chart36.xml"/><Relationship Id="rId5" Type="http://schemas.openxmlformats.org/officeDocument/2006/relationships/chart" Target="../charts/chart3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38.xml"/><Relationship Id="rId4" Type="http://schemas.openxmlformats.org/officeDocument/2006/relationships/chart" Target="../charts/chart39.xml"/><Relationship Id="rId5" Type="http://schemas.openxmlformats.org/officeDocument/2006/relationships/chart" Target="../charts/chart4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41.xml"/><Relationship Id="rId4" Type="http://schemas.openxmlformats.org/officeDocument/2006/relationships/chart" Target="../charts/chart4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43.xml"/><Relationship Id="rId4" Type="http://schemas.openxmlformats.org/officeDocument/2006/relationships/chart" Target="../charts/chart4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45.xml"/><Relationship Id="rId4" Type="http://schemas.openxmlformats.org/officeDocument/2006/relationships/chart" Target="../charts/chart4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47.xml"/><Relationship Id="rId4" Type="http://schemas.openxmlformats.org/officeDocument/2006/relationships/chart" Target="../charts/chart4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49.xml"/><Relationship Id="rId4" Type="http://schemas.openxmlformats.org/officeDocument/2006/relationships/chart" Target="../charts/chart5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51.xml"/><Relationship Id="rId4" Type="http://schemas.openxmlformats.org/officeDocument/2006/relationships/chart" Target="../charts/chart5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53.xml"/><Relationship Id="rId4" Type="http://schemas.openxmlformats.org/officeDocument/2006/relationships/chart" Target="../charts/chart5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55.xml"/><Relationship Id="rId4" Type="http://schemas.openxmlformats.org/officeDocument/2006/relationships/chart" Target="../charts/chart5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57.xml"/><Relationship Id="rId4" Type="http://schemas.openxmlformats.org/officeDocument/2006/relationships/chart" Target="../charts/chart5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59.xml"/><Relationship Id="rId4" Type="http://schemas.openxmlformats.org/officeDocument/2006/relationships/chart" Target="../charts/chart60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61.xml"/><Relationship Id="rId4" Type="http://schemas.openxmlformats.org/officeDocument/2006/relationships/chart" Target="../charts/chart6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63.xml"/><Relationship Id="rId4" Type="http://schemas.openxmlformats.org/officeDocument/2006/relationships/chart" Target="../charts/chart6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7562088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/>
            <a:r>
              <a:rPr sz="3200" b="1">
                <a:solidFill>
                  <a:srgbClr val="FFFFFF"/>
                </a:solidFill>
              </a:rPr>
              <a:t>Competition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8961120"/>
            <a:ext cx="3931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 b="1">
                <a:solidFill>
                  <a:srgbClr val="1F3564"/>
                </a:solidFill>
              </a:rPr>
              <a:t>Executive Summary</a:t>
            </a:r>
          </a:p>
          <a:p>
            <a:pPr algn="r"/>
            <a:r>
              <a:rPr sz="1300">
                <a:solidFill>
                  <a:srgbClr val="1F3564"/>
                </a:solidFill>
              </a:rPr>
              <a:t>Period ending December 2025 (FY26 Q3)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F3564"/>
                </a:solidFill>
              </a:rPr>
              <a:t>Competition Analysis FY26 Q3</a:t>
            </a:r>
          </a:p>
        </p:txBody>
      </p:sp>
      <p:pic>
        <p:nvPicPr>
          <p:cNvPr id="3" name="Picture 2" descr="NB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"/>
            <a:ext cx="687605" cy="411480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274320" y="566928"/>
            <a:ext cx="7013448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74320" y="777240"/>
            <a:ext cx="2926080" cy="457200"/>
          </a:xfrm>
          <a:prstGeom prst="round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Table of Contents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287000"/>
            <a:ext cx="7562088" cy="40233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i="1">
                <a:solidFill>
                  <a:srgbClr val="FFFFFF"/>
                </a:solidFill>
              </a:rPr>
              <a:t>Our Vision is, "To become India’s most admired Health Insurance Company"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0" y="10058400"/>
            <a:ext cx="914400" cy="292608"/>
          </a:xfrm>
          <a:prstGeom prst="roundRect">
            <a:avLst/>
          </a:prstGeom>
          <a:solidFill>
            <a:srgbClr val="8DB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Page | 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554480"/>
          <a:ext cx="69494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1463040"/>
              </a:tblGrid>
              <a:tr h="45720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Contents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Slide No.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Overall Industry &amp; Market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3-7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Revenue (Segment, Channel, Geographical mix)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8-17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Income statement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18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Key 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19-23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Investment portfolio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24-26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Historical trends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27-31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32-33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Distribution footprints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34-35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F3564"/>
                </a:solidFill>
              </a:rPr>
              <a:t>Competition Analysis FY26 Q3</a:t>
            </a:r>
          </a:p>
        </p:txBody>
      </p:sp>
      <p:pic>
        <p:nvPicPr>
          <p:cNvPr id="3" name="Picture 2" descr="NB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"/>
            <a:ext cx="687605" cy="411480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274320" y="566928"/>
            <a:ext cx="7013448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74320" y="777240"/>
            <a:ext cx="2926080" cy="457200"/>
          </a:xfrm>
          <a:prstGeom prst="round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GI Industry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287000"/>
            <a:ext cx="7562088" cy="40233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i="1">
                <a:solidFill>
                  <a:srgbClr val="FFFFFF"/>
                </a:solidFill>
              </a:rPr>
              <a:t>Our Vision is, "To become India’s most admired Health Insurance Company"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0" y="10058400"/>
            <a:ext cx="914400" cy="292608"/>
          </a:xfrm>
          <a:prstGeom prst="roundRect">
            <a:avLst/>
          </a:prstGeom>
          <a:solidFill>
            <a:srgbClr val="8DB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Page |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417320"/>
            <a:ext cx="6949440" cy="2926080"/>
          </a:xfrm>
          <a:prstGeom prst="roundRect">
            <a:avLst/>
          </a:prstGeom>
          <a:noFill/>
          <a:ln w="9525">
            <a:solidFill>
              <a:srgbClr val="ED7D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0876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/>
              <a:t>FY25_Q3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65760.0" y="1828800"/>
          <a:ext cx="3291840.0" cy="24231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65760" y="2720340"/>
            <a:ext cx="3291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/>
              <a:t>230,196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150876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/>
              <a:t>FY26_Q3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3840480.0" y="1828800"/>
          <a:ext cx="3291840.0" cy="242316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840480" y="2720340"/>
            <a:ext cx="3291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/>
              <a:t>250,209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1463040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/>
              <a:t>INR Crores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4480560"/>
            <a:ext cx="6949440" cy="3108960"/>
          </a:xfrm>
          <a:prstGeom prst="roundRect">
            <a:avLst/>
          </a:prstGeom>
          <a:noFill/>
          <a:ln w="9525">
            <a:solidFill>
              <a:srgbClr val="ED7D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57200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/>
              <a:t>FY25_Q3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365760.0" y="4892040"/>
          <a:ext cx="3291840.0" cy="260604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365760" y="5875020"/>
            <a:ext cx="3291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/>
              <a:t>141,118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457200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/>
              <a:t>FY26_Q3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3840480.0" y="4892040"/>
          <a:ext cx="3291840.0" cy="260604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3840480" y="5875020"/>
            <a:ext cx="3291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/>
              <a:t>149,118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526280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/>
              <a:t>INR Crores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8778240"/>
            <a:ext cx="6949440" cy="1234440"/>
          </a:xfrm>
          <a:prstGeom prst="roundRect">
            <a:avLst/>
          </a:prstGeom>
          <a:solidFill>
            <a:srgbClr val="FFF7E6"/>
          </a:solidFill>
          <a:ln w="9525">
            <a:solidFill>
              <a:srgbClr val="ED7D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/>
            <a:r>
              <a:rPr sz="1100">
                <a:solidFill>
                  <a:srgbClr val="333333"/>
                </a:solidFill>
              </a:rPr>
              <a:t>➢  Private has the highest market share at 144,761.7</a:t>
            </a:r>
          </a:p>
          <a:p>
            <a:r>
              <a:rPr sz="1100">
                <a:solidFill>
                  <a:srgbClr val="333333"/>
                </a:solidFill>
              </a:rPr>
              <a:t>➢  Private improved the most YoY (+8,192.2)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F3564"/>
                </a:solidFill>
              </a:rPr>
              <a:t>Competition Analysis FY26 Q3</a:t>
            </a:r>
          </a:p>
        </p:txBody>
      </p:sp>
      <p:pic>
        <p:nvPicPr>
          <p:cNvPr id="3" name="Picture 2" descr="NB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"/>
            <a:ext cx="687605" cy="411480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274320" y="566928"/>
            <a:ext cx="7013448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74320" y="777240"/>
            <a:ext cx="2926080" cy="457200"/>
          </a:xfrm>
          <a:prstGeom prst="round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Health Industry (Inc. PA &amp; Travel)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287000"/>
            <a:ext cx="7562088" cy="40233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i="1">
                <a:solidFill>
                  <a:srgbClr val="FFFFFF"/>
                </a:solidFill>
              </a:rPr>
              <a:t>Our Vision is, "To become India’s most admired Health Insurance Company"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0" y="10058400"/>
            <a:ext cx="914400" cy="292608"/>
          </a:xfrm>
          <a:prstGeom prst="roundRect">
            <a:avLst/>
          </a:prstGeom>
          <a:solidFill>
            <a:srgbClr val="8DB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Page |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417320"/>
            <a:ext cx="6949440" cy="2926080"/>
          </a:xfrm>
          <a:prstGeom prst="roundRect">
            <a:avLst/>
          </a:prstGeom>
          <a:noFill/>
          <a:ln w="9525">
            <a:solidFill>
              <a:srgbClr val="ED7D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0876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/>
              <a:t>FY25_Q3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65760.0" y="1828800"/>
          <a:ext cx="3291840.0" cy="24231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65760" y="2720340"/>
            <a:ext cx="3291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/>
              <a:t>94,903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150876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/>
              <a:t>FY26_Q3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3840480.0" y="1828800"/>
          <a:ext cx="3291840.0" cy="242316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840480" y="2720340"/>
            <a:ext cx="3291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/>
              <a:t>109,748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1463040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/>
              <a:t>INR Crores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4480560"/>
            <a:ext cx="6949440" cy="3108960"/>
          </a:xfrm>
          <a:prstGeom prst="roundRect">
            <a:avLst/>
          </a:prstGeom>
          <a:noFill/>
          <a:ln w="9525">
            <a:solidFill>
              <a:srgbClr val="ED7D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57200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/>
              <a:t>FY25_Q3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365760.0" y="4892040"/>
          <a:ext cx="3291840.0" cy="260604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365760" y="5875020"/>
            <a:ext cx="3291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/>
              <a:t>94,903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457200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/>
              <a:t>FY26_Q3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3840480.0" y="4892040"/>
          <a:ext cx="3291840.0" cy="260604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3840480" y="5875020"/>
            <a:ext cx="3291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/>
              <a:t>109,748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526280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/>
              <a:t>INR Crores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8778240"/>
            <a:ext cx="6949440" cy="1234440"/>
          </a:xfrm>
          <a:prstGeom prst="roundRect">
            <a:avLst/>
          </a:prstGeom>
          <a:solidFill>
            <a:srgbClr val="FFF7E6"/>
          </a:solidFill>
          <a:ln w="9525">
            <a:solidFill>
              <a:srgbClr val="ED7D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/>
            <a:r>
              <a:rPr sz="1100">
                <a:solidFill>
                  <a:srgbClr val="333333"/>
                </a:solidFill>
              </a:rPr>
              <a:t>➢  Private has the highest Health industry share at 44,681.4</a:t>
            </a:r>
          </a:p>
          <a:p>
            <a:r>
              <a:rPr sz="1100">
                <a:solidFill>
                  <a:srgbClr val="333333"/>
                </a:solidFill>
              </a:rPr>
              <a:t>➢  Public improved the most YoY (+5,420.0)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F3564"/>
                </a:solidFill>
              </a:rPr>
              <a:t>Competition Analysis FY26 Q3</a:t>
            </a:r>
          </a:p>
        </p:txBody>
      </p:sp>
      <p:pic>
        <p:nvPicPr>
          <p:cNvPr id="3" name="Picture 2" descr="NB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"/>
            <a:ext cx="687605" cy="411480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274320" y="566928"/>
            <a:ext cx="7013448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74320" y="777240"/>
            <a:ext cx="2926080" cy="457200"/>
          </a:xfrm>
          <a:prstGeom prst="round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SAHI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287000"/>
            <a:ext cx="7562088" cy="40233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i="1">
                <a:solidFill>
                  <a:srgbClr val="FFFFFF"/>
                </a:solidFill>
              </a:rPr>
              <a:t>Our Vision is, "To become India’s most admired Health Insurance Company"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0" y="10058400"/>
            <a:ext cx="914400" cy="292608"/>
          </a:xfrm>
          <a:prstGeom prst="roundRect">
            <a:avLst/>
          </a:prstGeom>
          <a:solidFill>
            <a:srgbClr val="8DB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Page |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417320"/>
            <a:ext cx="6949440" cy="3108960"/>
          </a:xfrm>
          <a:prstGeom prst="roundRect">
            <a:avLst/>
          </a:prstGeom>
          <a:noFill/>
          <a:ln w="9525">
            <a:solidFill>
              <a:srgbClr val="ED7D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0876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/>
              <a:t>FY25_Q3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65760.0" y="1828800"/>
          <a:ext cx="3291840.0" cy="26060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65760" y="2811780"/>
            <a:ext cx="3291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/>
              <a:t>26,714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150876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/>
              <a:t>FY26_Q3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3840480.0" y="1828800"/>
          <a:ext cx="3291840.0" cy="260604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840480" y="2811780"/>
            <a:ext cx="3291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/>
              <a:t>31,287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1463040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/>
              <a:t>INR Crores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4663440"/>
            <a:ext cx="6949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/>
              <a:t>Market Share Change (pp)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4937760"/>
            <a:ext cx="6949440" cy="2377440"/>
          </a:xfrm>
          <a:prstGeom prst="roundRect">
            <a:avLst/>
          </a:prstGeom>
          <a:noFill/>
          <a:ln w="9525">
            <a:solidFill>
              <a:srgbClr val="ED7D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457200" y="6126480.0"/>
            <a:ext cx="6583680" cy="0.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676002" y="5303520"/>
            <a:ext cx="502920" cy="502920"/>
          </a:xfrm>
          <a:prstGeom prst="ellipse">
            <a:avLst/>
          </a:prstGeom>
          <a:solidFill>
            <a:srgbClr val="9DC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800600"/>
            <a:ext cx="94052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/>
              <a:t>+0.7pp</a:t>
            </a:r>
          </a:p>
          <a:p>
            <a:pPr algn="ctr"/>
            <a:r>
              <a:rPr sz="900"/>
              <a:t>NBHI</a:t>
            </a:r>
          </a:p>
        </p:txBody>
      </p:sp>
      <p:sp>
        <p:nvSpPr>
          <p:cNvPr id="21" name="Oval 20"/>
          <p:cNvSpPr/>
          <p:nvPr/>
        </p:nvSpPr>
        <p:spPr>
          <a:xfrm>
            <a:off x="1616528" y="6446520"/>
            <a:ext cx="502920" cy="50292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7725" y="5943600"/>
            <a:ext cx="94052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/>
              <a:t>-3.0pp</a:t>
            </a:r>
          </a:p>
          <a:p>
            <a:pPr algn="ctr"/>
            <a:r>
              <a:rPr sz="900"/>
              <a:t>STAR</a:t>
            </a:r>
          </a:p>
        </p:txBody>
      </p:sp>
      <p:sp>
        <p:nvSpPr>
          <p:cNvPr id="23" name="Oval 22"/>
          <p:cNvSpPr/>
          <p:nvPr/>
        </p:nvSpPr>
        <p:spPr>
          <a:xfrm>
            <a:off x="2557054" y="6446520"/>
            <a:ext cx="502920" cy="502920"/>
          </a:xfrm>
          <a:prstGeom prst="ellipse">
            <a:avLst/>
          </a:prstGeom>
          <a:solidFill>
            <a:srgbClr val="FFD9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38251" y="5943600"/>
            <a:ext cx="94052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/>
              <a:t>-0.5pp</a:t>
            </a:r>
          </a:p>
          <a:p>
            <a:pPr algn="ctr"/>
            <a:r>
              <a:rPr sz="900"/>
              <a:t>CARE</a:t>
            </a:r>
          </a:p>
        </p:txBody>
      </p:sp>
      <p:sp>
        <p:nvSpPr>
          <p:cNvPr id="25" name="Oval 24"/>
          <p:cNvSpPr/>
          <p:nvPr/>
        </p:nvSpPr>
        <p:spPr>
          <a:xfrm>
            <a:off x="3497580" y="5303520"/>
            <a:ext cx="502920" cy="50292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78777" y="4800600"/>
            <a:ext cx="94052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/>
              <a:t>+0.4pp</a:t>
            </a:r>
          </a:p>
          <a:p>
            <a:pPr algn="ctr"/>
            <a:r>
              <a:rPr sz="900"/>
              <a:t>CIGNA</a:t>
            </a:r>
          </a:p>
        </p:txBody>
      </p:sp>
      <p:sp>
        <p:nvSpPr>
          <p:cNvPr id="27" name="Oval 26"/>
          <p:cNvSpPr/>
          <p:nvPr/>
        </p:nvSpPr>
        <p:spPr>
          <a:xfrm>
            <a:off x="4438105" y="5303520"/>
            <a:ext cx="502920" cy="50292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19302" y="4800600"/>
            <a:ext cx="94052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/>
              <a:t>+2.1pp</a:t>
            </a:r>
          </a:p>
          <a:p>
            <a:pPr algn="ctr"/>
            <a:r>
              <a:rPr sz="900"/>
              <a:t>ABHI</a:t>
            </a:r>
          </a:p>
        </p:txBody>
      </p:sp>
      <p:sp>
        <p:nvSpPr>
          <p:cNvPr id="29" name="Oval 28"/>
          <p:cNvSpPr/>
          <p:nvPr/>
        </p:nvSpPr>
        <p:spPr>
          <a:xfrm>
            <a:off x="5378631" y="5303520"/>
            <a:ext cx="502920" cy="502920"/>
          </a:xfrm>
          <a:prstGeom prst="ellipse">
            <a:avLst/>
          </a:prstGeom>
          <a:solidFill>
            <a:srgbClr val="2CA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59828" y="4800600"/>
            <a:ext cx="94052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/>
              <a:t>+0.1pp</a:t>
            </a:r>
          </a:p>
          <a:p>
            <a:pPr algn="ctr"/>
            <a:r>
              <a:rPr sz="900"/>
              <a:t>Narayana</a:t>
            </a:r>
          </a:p>
        </p:txBody>
      </p:sp>
      <p:sp>
        <p:nvSpPr>
          <p:cNvPr id="31" name="Oval 30"/>
          <p:cNvSpPr/>
          <p:nvPr/>
        </p:nvSpPr>
        <p:spPr>
          <a:xfrm>
            <a:off x="6319157" y="5303520"/>
            <a:ext cx="502920" cy="50292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00354" y="4800600"/>
            <a:ext cx="94052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/>
              <a:t>+0.2pp</a:t>
            </a:r>
          </a:p>
          <a:p>
            <a:pPr algn="ctr"/>
            <a:r>
              <a:rPr sz="900"/>
              <a:t>Galaxy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4320" y="8778240"/>
            <a:ext cx="6949440" cy="1234440"/>
          </a:xfrm>
          <a:prstGeom prst="roundRect">
            <a:avLst/>
          </a:prstGeom>
          <a:solidFill>
            <a:srgbClr val="FFF7E6"/>
          </a:solidFill>
          <a:ln w="9525">
            <a:solidFill>
              <a:srgbClr val="ED7D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/>
            <a:r>
              <a:rPr sz="1100">
                <a:solidFill>
                  <a:srgbClr val="333333"/>
                </a:solidFill>
              </a:rPr>
              <a:t>➢  STAR has the highest SAHI GDPI at 12,638.4</a:t>
            </a:r>
          </a:p>
          <a:p>
            <a:r>
              <a:rPr sz="1100">
                <a:solidFill>
                  <a:srgbClr val="333333"/>
                </a:solidFill>
              </a:rPr>
              <a:t>➢  ABHI improved the most YoY (+1,199.6)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F3564"/>
                </a:solidFill>
              </a:rPr>
              <a:t>Competition Analysis FY26 Q3</a:t>
            </a:r>
          </a:p>
        </p:txBody>
      </p:sp>
      <p:pic>
        <p:nvPicPr>
          <p:cNvPr id="3" name="Picture 2" descr="NB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"/>
            <a:ext cx="687605" cy="411480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274320" y="566928"/>
            <a:ext cx="7013448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74320" y="777240"/>
            <a:ext cx="2926080" cy="457200"/>
          </a:xfrm>
          <a:prstGeom prst="round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Segment-wise: Health &amp; PA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287000"/>
            <a:ext cx="7562088" cy="40233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i="1">
                <a:solidFill>
                  <a:srgbClr val="FFFFFF"/>
                </a:solidFill>
              </a:rPr>
              <a:t>Our Vision is, "To become India’s most admired Health Insurance Company"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0" y="10058400"/>
            <a:ext cx="914400" cy="292608"/>
          </a:xfrm>
          <a:prstGeom prst="roundRect">
            <a:avLst/>
          </a:prstGeom>
          <a:solidFill>
            <a:srgbClr val="8DB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Page |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417320"/>
            <a:ext cx="6949440" cy="3657600"/>
          </a:xfrm>
          <a:prstGeom prst="roundRect">
            <a:avLst/>
          </a:prstGeom>
          <a:noFill/>
          <a:ln w="9525">
            <a:solidFill>
              <a:srgbClr val="ED7D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57200" y="1691640"/>
          <a:ext cx="658368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74320" y="5120640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808080"/>
                </a:solidFill>
              </a:rPr>
              <a:t>FY26 Q3 absolute GDPI (Rs. Crore) by segment, for SAHI / Private GI / Public GI as groups.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8778240"/>
            <a:ext cx="6949440" cy="1234440"/>
          </a:xfrm>
          <a:prstGeom prst="roundRect">
            <a:avLst/>
          </a:prstGeom>
          <a:solidFill>
            <a:srgbClr val="FFF7E6"/>
          </a:solidFill>
          <a:ln w="9525">
            <a:solidFill>
              <a:srgbClr val="ED7D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/>
            <a:r>
              <a:rPr sz="1100">
                <a:solidFill>
                  <a:srgbClr val="333333"/>
                </a:solidFill>
              </a:rPr>
              <a:t>➢  Health-Group is the largest segment for both Private and Public GI players.</a:t>
            </a:r>
          </a:p>
          <a:p>
            <a:r>
              <a:rPr sz="1100">
                <a:solidFill>
                  <a:srgbClr val="333333"/>
                </a:solidFill>
              </a:rPr>
              <a:t>➢  SAHI's mix skews more heavily to Health-Retail than Private/Public GI.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F3564"/>
                </a:solidFill>
              </a:rPr>
              <a:t>Competition Analysis FY26 Q3</a:t>
            </a:r>
          </a:p>
        </p:txBody>
      </p:sp>
      <p:pic>
        <p:nvPicPr>
          <p:cNvPr id="3" name="Picture 2" descr="NB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"/>
            <a:ext cx="687605" cy="411480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274320" y="566928"/>
            <a:ext cx="7013448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74320" y="777240"/>
            <a:ext cx="2926080" cy="457200"/>
          </a:xfrm>
          <a:prstGeom prst="round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Segment wise SAHI's share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287000"/>
            <a:ext cx="7562088" cy="40233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i="1">
                <a:solidFill>
                  <a:srgbClr val="FFFFFF"/>
                </a:solidFill>
              </a:rPr>
              <a:t>Our Vision is, "To become India’s most admired Health Insurance Company"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0" y="10058400"/>
            <a:ext cx="914400" cy="292608"/>
          </a:xfrm>
          <a:prstGeom prst="roundRect">
            <a:avLst/>
          </a:prstGeom>
          <a:solidFill>
            <a:srgbClr val="8DB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Page | 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417320"/>
            <a:ext cx="6949440" cy="3657600"/>
          </a:xfrm>
          <a:prstGeom prst="roundRect">
            <a:avLst/>
          </a:prstGeom>
          <a:noFill/>
          <a:ln w="9525">
            <a:solidFill>
              <a:srgbClr val="ED7D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57200" y="1691640"/>
          <a:ext cx="658368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74320" y="5120640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808080"/>
                </a:solidFill>
              </a:rPr>
              <a:t>FY26 Q3 absolute GDPI (Rs. Crore) by segment, per SAHI company.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8778240"/>
            <a:ext cx="6949440" cy="1234440"/>
          </a:xfrm>
          <a:prstGeom prst="roundRect">
            <a:avLst/>
          </a:prstGeom>
          <a:solidFill>
            <a:srgbClr val="FFF7E6"/>
          </a:solidFill>
          <a:ln w="9525">
            <a:solidFill>
              <a:srgbClr val="ED7D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/>
            <a:r>
              <a:rPr sz="1100">
                <a:solidFill>
                  <a:srgbClr val="333333"/>
                </a:solidFill>
              </a:rPr>
              <a:t>➢  Retail remains the dominant segment across most SAHI players.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F3564"/>
                </a:solidFill>
              </a:rPr>
              <a:t>Competition Analysis FY26 Q3</a:t>
            </a:r>
          </a:p>
        </p:txBody>
      </p:sp>
      <p:pic>
        <p:nvPicPr>
          <p:cNvPr id="3" name="Picture 2" descr="NB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"/>
            <a:ext cx="687605" cy="411480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274320" y="566928"/>
            <a:ext cx="7013448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74320" y="777240"/>
            <a:ext cx="2926080" cy="457200"/>
          </a:xfrm>
          <a:prstGeom prst="round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Revenue Growth (GDPI)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287000"/>
            <a:ext cx="7562088" cy="40233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i="1">
                <a:solidFill>
                  <a:srgbClr val="FFFFFF"/>
                </a:solidFill>
              </a:rPr>
              <a:t>Our Vision is, "To become India’s most admired Health Insurance Company"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0" y="10058400"/>
            <a:ext cx="914400" cy="292608"/>
          </a:xfrm>
          <a:prstGeom prst="roundRect">
            <a:avLst/>
          </a:prstGeom>
          <a:solidFill>
            <a:srgbClr val="8DB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Page |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417320"/>
            <a:ext cx="6949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/>
              <a:t>Per-company GDPI (Rs. Crore)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74320" y="1691640"/>
          <a:ext cx="6949440" cy="5486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274320" y="8778240"/>
            <a:ext cx="6949440" cy="1234440"/>
          </a:xfrm>
          <a:prstGeom prst="roundRect">
            <a:avLst/>
          </a:prstGeom>
          <a:solidFill>
            <a:srgbClr val="FFF7E6"/>
          </a:solidFill>
          <a:ln w="9525">
            <a:solidFill>
              <a:srgbClr val="ED7D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/>
            <a:r>
              <a:rPr sz="1100">
                <a:solidFill>
                  <a:srgbClr val="333333"/>
                </a:solidFill>
              </a:rPr>
              <a:t>➢  STAR has the highest GDPI at 12,638.2</a:t>
            </a:r>
          </a:p>
          <a:p>
            <a:r>
              <a:rPr sz="1100">
                <a:solidFill>
                  <a:srgbClr val="333333"/>
                </a:solidFill>
              </a:rPr>
              <a:t>➢  ABHI improved the most YoY (+1,199.6)</a:t>
            </a:r>
          </a:p>
          <a:p>
            <a:r>
              <a:rPr sz="1100">
                <a:solidFill>
                  <a:srgbClr val="333333"/>
                </a:solidFill>
              </a:rPr>
              <a:t>➢  Industry Total growth %: 15.6%</a:t>
            </a:r>
          </a:p>
          <a:p>
            <a:r>
              <a:rPr sz="1100">
                <a:solidFill>
                  <a:srgbClr val="333333"/>
                </a:solidFill>
              </a:rPr>
              <a:t>➢  Stand-alone Health sub Total growth %: 17.1%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F3564"/>
                </a:solidFill>
              </a:rPr>
              <a:t>Competition Analysis FY26 Q3</a:t>
            </a:r>
          </a:p>
        </p:txBody>
      </p:sp>
      <p:pic>
        <p:nvPicPr>
          <p:cNvPr id="3" name="Picture 2" descr="NB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"/>
            <a:ext cx="687605" cy="411480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274320" y="566928"/>
            <a:ext cx="7013448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74320" y="777240"/>
            <a:ext cx="2926080" cy="457200"/>
          </a:xfrm>
          <a:prstGeom prst="round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Revenue &amp; Growth % (SAHI)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287000"/>
            <a:ext cx="7562088" cy="40233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i="1">
                <a:solidFill>
                  <a:srgbClr val="FFFFFF"/>
                </a:solidFill>
              </a:rPr>
              <a:t>Our Vision is, "To become India’s most admired Health Insurance Company"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0" y="10058400"/>
            <a:ext cx="914400" cy="292608"/>
          </a:xfrm>
          <a:prstGeom prst="roundRect">
            <a:avLst/>
          </a:prstGeom>
          <a:solidFill>
            <a:srgbClr val="8DB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Page |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417320"/>
            <a:ext cx="6949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/>
              <a:t>GDPI Growth % (YoY)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74320" y="1691640"/>
          <a:ext cx="6949440" cy="5303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274320" y="8778240"/>
            <a:ext cx="6949440" cy="1234440"/>
          </a:xfrm>
          <a:prstGeom prst="roundRect">
            <a:avLst/>
          </a:prstGeom>
          <a:solidFill>
            <a:srgbClr val="FFF7E6"/>
          </a:solidFill>
          <a:ln w="9525">
            <a:solidFill>
              <a:srgbClr val="ED7D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/>
            <a:r>
              <a:rPr sz="1100">
                <a:solidFill>
                  <a:srgbClr val="333333"/>
                </a:solidFill>
              </a:rPr>
              <a:t>➢  Galaxy has the highest GDPI growth at 3,086.1%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F3564"/>
                </a:solidFill>
              </a:rPr>
              <a:t>Competition Analysis FY26 Q3</a:t>
            </a:r>
          </a:p>
        </p:txBody>
      </p:sp>
      <p:pic>
        <p:nvPicPr>
          <p:cNvPr id="3" name="Picture 2" descr="NB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"/>
            <a:ext cx="687605" cy="411480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274320" y="566928"/>
            <a:ext cx="7013448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74320" y="777240"/>
            <a:ext cx="2926080" cy="457200"/>
          </a:xfrm>
          <a:prstGeom prst="round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Segment-wise GDPI mix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287000"/>
            <a:ext cx="7562088" cy="40233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i="1">
                <a:solidFill>
                  <a:srgbClr val="FFFFFF"/>
                </a:solidFill>
              </a:rPr>
              <a:t>Our Vision is, "To become India’s most admired Health Insurance Company"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0" y="10058400"/>
            <a:ext cx="914400" cy="292608"/>
          </a:xfrm>
          <a:prstGeom prst="roundRect">
            <a:avLst/>
          </a:prstGeom>
          <a:solidFill>
            <a:srgbClr val="8DB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Page |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417320"/>
            <a:ext cx="6949440" cy="3291840"/>
          </a:xfrm>
          <a:prstGeom prst="roundRect">
            <a:avLst/>
          </a:prstGeom>
          <a:noFill/>
          <a:ln w="9525">
            <a:solidFill>
              <a:srgbClr val="ED7D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0876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/>
              <a:t>FY25_Q3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65760.0" y="1828800"/>
          <a:ext cx="3291840.0" cy="27889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65760" y="2903220"/>
            <a:ext cx="3291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/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150876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/>
              <a:t>FY26_Q3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3840480.0" y="1828800"/>
          <a:ext cx="3291840.0" cy="27889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840480" y="2903220"/>
            <a:ext cx="3291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/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1463040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/>
              <a:t>% of SAHI GDPI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480060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808080"/>
                </a:solidFill>
              </a:rPr>
              <a:t>Industry / Public GI / Pvt. GI segment mix isn't reliably derivable as a clean percentage from current source data this quarter - SAHI's mix only.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8778240"/>
            <a:ext cx="6949440" cy="1234440"/>
          </a:xfrm>
          <a:prstGeom prst="roundRect">
            <a:avLst/>
          </a:prstGeom>
          <a:solidFill>
            <a:srgbClr val="FFF7E6"/>
          </a:solidFill>
          <a:ln w="9525">
            <a:solidFill>
              <a:srgbClr val="ED7D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/>
            <a:r>
              <a:rPr sz="1100">
                <a:solidFill>
                  <a:srgbClr val="333333"/>
                </a:solidFill>
              </a:rPr>
              <a:t>➢  SAHI segment mix (Retail/Group/Govt./Travel/PA) as a share of SAHI's own GDPI.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F3564"/>
                </a:solidFill>
              </a:rPr>
              <a:t>Competition Analysis FY26 Q3</a:t>
            </a:r>
          </a:p>
        </p:txBody>
      </p:sp>
      <p:pic>
        <p:nvPicPr>
          <p:cNvPr id="3" name="Picture 2" descr="NB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"/>
            <a:ext cx="687605" cy="411480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274320" y="566928"/>
            <a:ext cx="7013448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74320" y="777240"/>
            <a:ext cx="2926080" cy="457200"/>
          </a:xfrm>
          <a:prstGeom prst="round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Segment-wise GDPI mix - SAHI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287000"/>
            <a:ext cx="7562088" cy="40233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i="1">
                <a:solidFill>
                  <a:srgbClr val="FFFFFF"/>
                </a:solidFill>
              </a:rPr>
              <a:t>Our Vision is, "To become India’s most admired Health Insurance Company"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0" y="10058400"/>
            <a:ext cx="914400" cy="292608"/>
          </a:xfrm>
          <a:prstGeom prst="roundRect">
            <a:avLst/>
          </a:prstGeom>
          <a:solidFill>
            <a:srgbClr val="8DB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Page |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417320"/>
            <a:ext cx="6949440" cy="5486400"/>
          </a:xfrm>
          <a:prstGeom prst="roundRect">
            <a:avLst/>
          </a:prstGeom>
          <a:noFill/>
          <a:ln w="9525">
            <a:solidFill>
              <a:srgbClr val="ED7D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57200" y="1691640"/>
          <a:ext cx="658368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274320" y="8778240"/>
            <a:ext cx="6949440" cy="1234440"/>
          </a:xfrm>
          <a:prstGeom prst="roundRect">
            <a:avLst/>
          </a:prstGeom>
          <a:solidFill>
            <a:srgbClr val="FFF7E6"/>
          </a:solidFill>
          <a:ln w="9525">
            <a:solidFill>
              <a:srgbClr val="ED7D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/>
            <a:r>
              <a:rPr sz="1100">
                <a:solidFill>
                  <a:srgbClr val="333333"/>
                </a:solidFill>
              </a:rPr>
              <a:t>➢  Segment mix (% of own GDPI) per SAHI company.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F3564"/>
                </a:solidFill>
              </a:rPr>
              <a:t>Competition Analysis FY26 Q3</a:t>
            </a:r>
          </a:p>
        </p:txBody>
      </p:sp>
      <p:pic>
        <p:nvPicPr>
          <p:cNvPr id="3" name="Picture 2" descr="NB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"/>
            <a:ext cx="687605" cy="411480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274320" y="566928"/>
            <a:ext cx="7013448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74320" y="777240"/>
            <a:ext cx="2926080" cy="457200"/>
          </a:xfrm>
          <a:prstGeom prst="round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GDPI by Channel: SAHI's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287000"/>
            <a:ext cx="7562088" cy="40233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i="1">
                <a:solidFill>
                  <a:srgbClr val="FFFFFF"/>
                </a:solidFill>
              </a:rPr>
              <a:t>Our Vision is, "To become India’s most admired Health Insurance Company"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0" y="10058400"/>
            <a:ext cx="914400" cy="292608"/>
          </a:xfrm>
          <a:prstGeom prst="roundRect">
            <a:avLst/>
          </a:prstGeom>
          <a:solidFill>
            <a:srgbClr val="8DB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Page |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417320"/>
            <a:ext cx="6949440" cy="5486400"/>
          </a:xfrm>
          <a:prstGeom prst="roundRect">
            <a:avLst/>
          </a:prstGeom>
          <a:noFill/>
          <a:ln w="9525">
            <a:solidFill>
              <a:srgbClr val="ED7D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57200" y="1691640"/>
          <a:ext cx="658368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274320" y="8778240"/>
            <a:ext cx="6949440" cy="1234440"/>
          </a:xfrm>
          <a:prstGeom prst="roundRect">
            <a:avLst/>
          </a:prstGeom>
          <a:solidFill>
            <a:srgbClr val="FFF7E6"/>
          </a:solidFill>
          <a:ln w="9525">
            <a:solidFill>
              <a:srgbClr val="ED7D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/>
            <a:r>
              <a:rPr sz="1100">
                <a:solidFill>
                  <a:srgbClr val="333333"/>
                </a:solidFill>
              </a:rPr>
              <a:t>➢  FY26 Q3 GDPI (Rs. Crore) by distribution channel, per SAHI company.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F3564"/>
                </a:solidFill>
              </a:rPr>
              <a:t>Competition Analysis FY26 Q3</a:t>
            </a:r>
          </a:p>
        </p:txBody>
      </p:sp>
      <p:pic>
        <p:nvPicPr>
          <p:cNvPr id="3" name="Picture 2" descr="NB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"/>
            <a:ext cx="687605" cy="411480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274320" y="566928"/>
            <a:ext cx="7013448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74320" y="777240"/>
            <a:ext cx="2926080" cy="457200"/>
          </a:xfrm>
          <a:prstGeom prst="round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Channel-wise Commission: SAHI's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287000"/>
            <a:ext cx="7562088" cy="40233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i="1">
                <a:solidFill>
                  <a:srgbClr val="FFFFFF"/>
                </a:solidFill>
              </a:rPr>
              <a:t>Our Vision is, "To become India’s most admired Health Insurance Company"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0" y="10058400"/>
            <a:ext cx="914400" cy="292608"/>
          </a:xfrm>
          <a:prstGeom prst="roundRect">
            <a:avLst/>
          </a:prstGeom>
          <a:solidFill>
            <a:srgbClr val="8DB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Page |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417320"/>
            <a:ext cx="6949440" cy="5486400"/>
          </a:xfrm>
          <a:prstGeom prst="roundRect">
            <a:avLst/>
          </a:prstGeom>
          <a:noFill/>
          <a:ln w="9525">
            <a:solidFill>
              <a:srgbClr val="ED7D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57200" y="1691640"/>
          <a:ext cx="658368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74320" y="6949440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808080"/>
                </a:solidFill>
              </a:rPr>
              <a:t>Gross commission (Rs. Lakhs) by channel.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8778240"/>
            <a:ext cx="6949440" cy="1234440"/>
          </a:xfrm>
          <a:prstGeom prst="roundRect">
            <a:avLst/>
          </a:prstGeom>
          <a:solidFill>
            <a:srgbClr val="FFF7E6"/>
          </a:solidFill>
          <a:ln w="9525">
            <a:solidFill>
              <a:srgbClr val="ED7D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/>
            <a:r>
              <a:rPr sz="1100">
                <a:solidFill>
                  <a:srgbClr val="333333"/>
                </a:solidFill>
              </a:rPr>
              <a:t>➢  Individual Agents remain the largest commission channel for most companies.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F3564"/>
                </a:solidFill>
              </a:rPr>
              <a:t>Competition Analysis FY26 Q3</a:t>
            </a:r>
          </a:p>
        </p:txBody>
      </p:sp>
      <p:pic>
        <p:nvPicPr>
          <p:cNvPr id="3" name="Picture 2" descr="NB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"/>
            <a:ext cx="687605" cy="411480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274320" y="566928"/>
            <a:ext cx="7013448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74320" y="777240"/>
            <a:ext cx="2926080" cy="457200"/>
          </a:xfrm>
          <a:prstGeom prst="round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Retail Revenue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287000"/>
            <a:ext cx="7562088" cy="40233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i="1">
                <a:solidFill>
                  <a:srgbClr val="FFFFFF"/>
                </a:solidFill>
              </a:rPr>
              <a:t>Our Vision is, "To become India’s most admired Health Insurance Company"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0" y="10058400"/>
            <a:ext cx="914400" cy="292608"/>
          </a:xfrm>
          <a:prstGeom prst="roundRect">
            <a:avLst/>
          </a:prstGeom>
          <a:solidFill>
            <a:srgbClr val="8DB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Page |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417320"/>
            <a:ext cx="6949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/>
              <a:t>Retail Revenue (Rs. Crore)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74320" y="1673352"/>
          <a:ext cx="6949440" cy="3310128.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74320" y="5120640"/>
            <a:ext cx="6949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/>
              <a:t>Retail Accretion (Rs. Crore)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74320" y="5376672.0"/>
          <a:ext cx="6949440" cy="3310128.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274320" y="8778240"/>
            <a:ext cx="6949440" cy="1234440"/>
          </a:xfrm>
          <a:prstGeom prst="roundRect">
            <a:avLst/>
          </a:prstGeom>
          <a:solidFill>
            <a:srgbClr val="FFF7E6"/>
          </a:solidFill>
          <a:ln w="9525">
            <a:solidFill>
              <a:srgbClr val="ED7D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/>
            <a:r>
              <a:rPr sz="1100">
                <a:solidFill>
                  <a:srgbClr val="333333"/>
                </a:solidFill>
              </a:rPr>
              <a:t>➢  STAR has the highest Retail Revenue (Rs. Crore) at 11,974.9</a:t>
            </a:r>
          </a:p>
          <a:p>
            <a:r>
              <a:rPr sz="1100">
                <a:solidFill>
                  <a:srgbClr val="333333"/>
                </a:solidFill>
              </a:rPr>
              <a:t>➢  STAR improved the most YoY (+1,410.7)</a:t>
            </a:r>
          </a:p>
          <a:p>
            <a:r>
              <a:rPr sz="1100">
                <a:solidFill>
                  <a:srgbClr val="333333"/>
                </a:solidFill>
              </a:rPr>
              <a:t>➢  STAR has the highest Retail Accretion (Rs. Crore) at 1,410.7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F3564"/>
                </a:solidFill>
              </a:rPr>
              <a:t>Competition Analysis FY26 Q3</a:t>
            </a:r>
          </a:p>
        </p:txBody>
      </p:sp>
      <p:pic>
        <p:nvPicPr>
          <p:cNvPr id="3" name="Picture 2" descr="NB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"/>
            <a:ext cx="687605" cy="411480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274320" y="566928"/>
            <a:ext cx="7013448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74320" y="777240"/>
            <a:ext cx="2926080" cy="457200"/>
          </a:xfrm>
          <a:prstGeom prst="round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287000"/>
            <a:ext cx="7562088" cy="40233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i="1">
                <a:solidFill>
                  <a:srgbClr val="FFFFFF"/>
                </a:solidFill>
              </a:rPr>
              <a:t>Our Vision is, "To become India’s most admired Health Insurance Company"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0" y="10058400"/>
            <a:ext cx="914400" cy="292608"/>
          </a:xfrm>
          <a:prstGeom prst="roundRect">
            <a:avLst/>
          </a:prstGeom>
          <a:solidFill>
            <a:srgbClr val="8DB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Page |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417320"/>
            <a:ext cx="6949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/>
              <a:t>Individual ATS (Rs. per policy)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74320" y="1673352"/>
          <a:ext cx="6949440" cy="3310128.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74320" y="5120640"/>
            <a:ext cx="6949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/>
              <a:t>Average Productivity (Rs. Lakhs per agent)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74320" y="5376672.0"/>
          <a:ext cx="6949440" cy="3310128.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274320" y="8778240"/>
            <a:ext cx="6949440" cy="1234440"/>
          </a:xfrm>
          <a:prstGeom prst="roundRect">
            <a:avLst/>
          </a:prstGeom>
          <a:solidFill>
            <a:srgbClr val="FFF7E6"/>
          </a:solidFill>
          <a:ln w="9525">
            <a:solidFill>
              <a:srgbClr val="ED7D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/>
            <a:r>
              <a:rPr sz="1100">
                <a:solidFill>
                  <a:srgbClr val="333333"/>
                </a:solidFill>
              </a:rPr>
              <a:t>➢  CIGNA has the highest Individual ATS (Rs. per policy) at 27,191.6</a:t>
            </a:r>
          </a:p>
          <a:p>
            <a:r>
              <a:rPr sz="1100">
                <a:solidFill>
                  <a:srgbClr val="333333"/>
                </a:solidFill>
              </a:rPr>
              <a:t>➢  STAR improved the most YoY (+1,473.3)</a:t>
            </a:r>
          </a:p>
          <a:p>
            <a:r>
              <a:rPr sz="1100">
                <a:solidFill>
                  <a:srgbClr val="333333"/>
                </a:solidFill>
              </a:rPr>
              <a:t>➢  Galaxy declined the most YoY (-2,045.9)</a:t>
            </a:r>
          </a:p>
          <a:p>
            <a:r>
              <a:rPr sz="1100">
                <a:solidFill>
                  <a:srgbClr val="333333"/>
                </a:solidFill>
              </a:rPr>
              <a:t>➢  STAR has the highest Average Productivity (Rs. Lakhs per agent) at 1.3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F3564"/>
                </a:solidFill>
              </a:rPr>
              <a:t>Competition Analysis FY26 Q3</a:t>
            </a:r>
          </a:p>
        </p:txBody>
      </p:sp>
      <p:pic>
        <p:nvPicPr>
          <p:cNvPr id="3" name="Picture 2" descr="NB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"/>
            <a:ext cx="687605" cy="411480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274320" y="566928"/>
            <a:ext cx="7013448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74320" y="777240"/>
            <a:ext cx="2926080" cy="457200"/>
          </a:xfrm>
          <a:prstGeom prst="round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Geographical Distribution: Zones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287000"/>
            <a:ext cx="7562088" cy="40233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i="1">
                <a:solidFill>
                  <a:srgbClr val="FFFFFF"/>
                </a:solidFill>
              </a:rPr>
              <a:t>Our Vision is, "To become India’s most admired Health Insurance Company"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0" y="10058400"/>
            <a:ext cx="914400" cy="292608"/>
          </a:xfrm>
          <a:prstGeom prst="roundRect">
            <a:avLst/>
          </a:prstGeom>
          <a:solidFill>
            <a:srgbClr val="8DB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Page |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417320"/>
            <a:ext cx="6949440" cy="5120640"/>
          </a:xfrm>
          <a:prstGeom prst="roundRect">
            <a:avLst/>
          </a:prstGeom>
          <a:noFill/>
          <a:ln w="9525">
            <a:solidFill>
              <a:srgbClr val="ED7D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57200" y="1691640"/>
          <a:ext cx="6583680" cy="457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74320" y="658368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808080"/>
                </a:solidFill>
              </a:rPr>
              <a:t>North/West/South derived from Slide 17's named states (Ministry of Home Affairs zonal convention); East and Central aren't separately broken out by current source disclosures and fall inside 'Others (unclassified)'.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8778240"/>
            <a:ext cx="6949440" cy="1234440"/>
          </a:xfrm>
          <a:prstGeom prst="roundRect">
            <a:avLst/>
          </a:prstGeom>
          <a:solidFill>
            <a:srgbClr val="FFF7E6"/>
          </a:solidFill>
          <a:ln w="9525">
            <a:solidFill>
              <a:srgbClr val="ED7D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/>
            <a:r>
              <a:rPr sz="1100">
                <a:solidFill>
                  <a:srgbClr val="333333"/>
                </a:solidFill>
              </a:rPr>
              <a:t>➢  Zone split is a best-effort estimate from named-state data - East/Central exposure isn't separately identifiable this quarter.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F3564"/>
                </a:solidFill>
              </a:rPr>
              <a:t>Competition Analysis FY26 Q3</a:t>
            </a:r>
          </a:p>
        </p:txBody>
      </p:sp>
      <p:pic>
        <p:nvPicPr>
          <p:cNvPr id="3" name="Picture 2" descr="NB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"/>
            <a:ext cx="687605" cy="411480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274320" y="566928"/>
            <a:ext cx="7013448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74320" y="777240"/>
            <a:ext cx="2926080" cy="457200"/>
          </a:xfrm>
          <a:prstGeom prst="round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Geographical Distribution: States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287000"/>
            <a:ext cx="7562088" cy="40233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i="1">
                <a:solidFill>
                  <a:srgbClr val="FFFFFF"/>
                </a:solidFill>
              </a:rPr>
              <a:t>Our Vision is, "To become India’s most admired Health Insurance Company"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0" y="10058400"/>
            <a:ext cx="914400" cy="292608"/>
          </a:xfrm>
          <a:prstGeom prst="roundRect">
            <a:avLst/>
          </a:prstGeom>
          <a:solidFill>
            <a:srgbClr val="8DB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Page |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417320"/>
            <a:ext cx="6949440" cy="5486400"/>
          </a:xfrm>
          <a:prstGeom prst="roundRect">
            <a:avLst/>
          </a:prstGeom>
          <a:noFill/>
          <a:ln w="9525">
            <a:solidFill>
              <a:srgbClr val="ED7D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57200" y="1691640"/>
          <a:ext cx="658368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274320" y="8778240"/>
            <a:ext cx="6949440" cy="1234440"/>
          </a:xfrm>
          <a:prstGeom prst="roundRect">
            <a:avLst/>
          </a:prstGeom>
          <a:solidFill>
            <a:srgbClr val="FFF7E6"/>
          </a:solidFill>
          <a:ln w="9525">
            <a:solidFill>
              <a:srgbClr val="ED7D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/>
            <a:r>
              <a:rPr sz="1100">
                <a:solidFill>
                  <a:srgbClr val="333333"/>
                </a:solidFill>
              </a:rPr>
              <a:t>➢  State-wise GDPI as a share of each company's own GWP.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F3564"/>
                </a:solidFill>
              </a:rPr>
              <a:t>Competition Analysis FY26 Q3</a:t>
            </a:r>
          </a:p>
        </p:txBody>
      </p:sp>
      <p:pic>
        <p:nvPicPr>
          <p:cNvPr id="3" name="Picture 2" descr="NB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"/>
            <a:ext cx="687605" cy="411480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274320" y="566928"/>
            <a:ext cx="7013448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74320" y="777240"/>
            <a:ext cx="2926080" cy="457200"/>
          </a:xfrm>
          <a:prstGeom prst="round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Income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287000"/>
            <a:ext cx="7562088" cy="40233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i="1">
                <a:solidFill>
                  <a:srgbClr val="FFFFFF"/>
                </a:solidFill>
              </a:rPr>
              <a:t>Our Vision is, "To become India’s most admired Health Insurance Company"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0" y="10058400"/>
            <a:ext cx="914400" cy="292608"/>
          </a:xfrm>
          <a:prstGeom prst="roundRect">
            <a:avLst/>
          </a:prstGeom>
          <a:solidFill>
            <a:srgbClr val="8DB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Page |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417320"/>
            <a:ext cx="6949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/>
              <a:t>FY26 Q3 (Rs. Crore)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4320" y="1691640"/>
          <a:ext cx="6949434" cy="2990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744582"/>
                <a:gridCol w="744582"/>
                <a:gridCol w="744582"/>
                <a:gridCol w="744582"/>
                <a:gridCol w="744582"/>
                <a:gridCol w="744582"/>
                <a:gridCol w="744582"/>
              </a:tblGrid>
              <a:tr h="50292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FY26 Q3</a:t>
                      </a:r>
                    </a:p>
                  </a:txBody>
                  <a:tcPr>
                    <a:solidFill>
                      <a:srgbClr val="1F3564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Narayana</a:t>
                      </a:r>
                    </a:p>
                  </a:txBody>
                  <a:tcPr>
                    <a:solidFill>
                      <a:srgbClr val="2CA6A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Galaxy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/>
                        <a:t>Gross Written Premium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5,706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12,638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6,610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1,545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4,418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76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/>
                        <a:t>Net Written Premium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4,505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12,052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5,206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1,663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3,361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72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/>
                        <a:t>Earned Premium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4,096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12,270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4,927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1,410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2,943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37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/>
                        <a:t>Investment 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461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907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507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146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269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13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/>
                        <a:t>Claims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3,013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8,570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3,783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1,360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2,434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12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/>
                        <a:t>Total Overheads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1,725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3,957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1,932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953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113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1"/>
                        <a:t>PBT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-214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603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-89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-445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-180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-13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-76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1"/>
                        <a:t>PAT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-214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446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-67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-445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-180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-13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-76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0" name="Picture 9" descr="NB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832" y="1746504"/>
            <a:ext cx="657045" cy="393192"/>
          </a:xfrm>
          <a:prstGeom prst="rect">
            <a:avLst/>
          </a:prstGeom>
        </p:spPr>
      </p:pic>
      <p:pic>
        <p:nvPicPr>
          <p:cNvPr id="11" name="Picture 10" descr="ST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9414" y="1746504"/>
            <a:ext cx="541838" cy="393192"/>
          </a:xfrm>
          <a:prstGeom prst="rect">
            <a:avLst/>
          </a:prstGeom>
        </p:spPr>
      </p:pic>
      <p:pic>
        <p:nvPicPr>
          <p:cNvPr id="12" name="Picture 11" descr="CA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3996" y="1746504"/>
            <a:ext cx="564460" cy="393192"/>
          </a:xfrm>
          <a:prstGeom prst="rect">
            <a:avLst/>
          </a:prstGeom>
        </p:spPr>
      </p:pic>
      <p:pic>
        <p:nvPicPr>
          <p:cNvPr id="13" name="Picture 12" descr="CIGN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8578" y="1746504"/>
            <a:ext cx="847904" cy="393192"/>
          </a:xfrm>
          <a:prstGeom prst="rect">
            <a:avLst/>
          </a:prstGeom>
        </p:spPr>
      </p:pic>
      <p:pic>
        <p:nvPicPr>
          <p:cNvPr id="14" name="Picture 13" descr="ABH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3160" y="1746504"/>
            <a:ext cx="514684" cy="39319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74320" y="4809744"/>
            <a:ext cx="6949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/>
              <a:t>FY25 Q3 (Rs. Crore)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274320" y="5084064"/>
          <a:ext cx="6949434" cy="2990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744582"/>
                <a:gridCol w="744582"/>
                <a:gridCol w="744582"/>
                <a:gridCol w="744582"/>
                <a:gridCol w="744582"/>
                <a:gridCol w="744582"/>
                <a:gridCol w="744582"/>
              </a:tblGrid>
              <a:tr h="50292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FY25 Q3</a:t>
                      </a:r>
                    </a:p>
                  </a:txBody>
                  <a:tcPr>
                    <a:solidFill>
                      <a:srgbClr val="1F3564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Narayana</a:t>
                      </a:r>
                    </a:p>
                  </a:txBody>
                  <a:tcPr>
                    <a:solidFill>
                      <a:srgbClr val="2CA6A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Galaxy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/>
                        <a:t>Gross Written Premium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4,684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11,603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5,782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1,210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3,219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2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/>
                        <a:t>Net Written Premium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3,697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10,706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4,736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1,158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2,480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2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/>
                        <a:t>Earned Premium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3,367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11,024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4,355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1,125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2,167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1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/>
                        <a:t>Investment 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336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996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396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208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15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/>
                        <a:t>Claims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2,135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7,789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3,042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888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1,675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0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/>
                        <a:t>Total Overheads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1,539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3,338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1,899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542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897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47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1"/>
                        <a:t>PBT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862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-215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-199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-31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1"/>
                        <a:t>PAT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645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-215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-199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-31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7" name="Picture 16" descr="NB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832" y="5138928"/>
            <a:ext cx="657045" cy="393192"/>
          </a:xfrm>
          <a:prstGeom prst="rect">
            <a:avLst/>
          </a:prstGeom>
        </p:spPr>
      </p:pic>
      <p:pic>
        <p:nvPicPr>
          <p:cNvPr id="18" name="Picture 17" descr="ST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9414" y="5138928"/>
            <a:ext cx="541838" cy="393192"/>
          </a:xfrm>
          <a:prstGeom prst="rect">
            <a:avLst/>
          </a:prstGeom>
        </p:spPr>
      </p:pic>
      <p:pic>
        <p:nvPicPr>
          <p:cNvPr id="19" name="Picture 18" descr="CA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3996" y="5138928"/>
            <a:ext cx="564460" cy="393192"/>
          </a:xfrm>
          <a:prstGeom prst="rect">
            <a:avLst/>
          </a:prstGeom>
        </p:spPr>
      </p:pic>
      <p:pic>
        <p:nvPicPr>
          <p:cNvPr id="20" name="Picture 19" descr="CIGN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8578" y="5138928"/>
            <a:ext cx="847904" cy="393192"/>
          </a:xfrm>
          <a:prstGeom prst="rect">
            <a:avLst/>
          </a:prstGeom>
        </p:spPr>
      </p:pic>
      <p:pic>
        <p:nvPicPr>
          <p:cNvPr id="21" name="Picture 20" descr="ABH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3160" y="5138928"/>
            <a:ext cx="514684" cy="393192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274320" y="8778240"/>
            <a:ext cx="6949440" cy="1234440"/>
          </a:xfrm>
          <a:prstGeom prst="roundRect">
            <a:avLst/>
          </a:prstGeom>
          <a:solidFill>
            <a:srgbClr val="FFF7E6"/>
          </a:solidFill>
          <a:ln w="9525">
            <a:solidFill>
              <a:srgbClr val="ED7D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/>
            <a:r>
              <a:rPr sz="1100">
                <a:solidFill>
                  <a:srgbClr val="333333"/>
                </a:solidFill>
              </a:rPr>
              <a:t>➢  STAR has the highest PBT at 603.1</a:t>
            </a:r>
          </a:p>
          <a:p>
            <a:r>
              <a:rPr sz="1100">
                <a:solidFill>
                  <a:srgbClr val="333333"/>
                </a:solidFill>
              </a:rPr>
              <a:t>➢  ABHI improved the most YoY (+19.5)</a:t>
            </a:r>
          </a:p>
          <a:p>
            <a:r>
              <a:rPr sz="1100">
                <a:solidFill>
                  <a:srgbClr val="333333"/>
                </a:solidFill>
              </a:rPr>
              <a:t>➢  STAR declined the most YoY (-258.8)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F3564"/>
                </a:solidFill>
              </a:rPr>
              <a:t>Competition Analysis FY26 Q3</a:t>
            </a:r>
          </a:p>
        </p:txBody>
      </p:sp>
      <p:pic>
        <p:nvPicPr>
          <p:cNvPr id="3" name="Picture 2" descr="NB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"/>
            <a:ext cx="687605" cy="411480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274320" y="566928"/>
            <a:ext cx="7013448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74320" y="777240"/>
            <a:ext cx="2926080" cy="457200"/>
          </a:xfrm>
          <a:prstGeom prst="round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Key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287000"/>
            <a:ext cx="7562088" cy="40233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i="1">
                <a:solidFill>
                  <a:srgbClr val="FFFFFF"/>
                </a:solidFill>
              </a:rPr>
              <a:t>Our Vision is, "To become India’s most admired Health Insurance Company"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0" y="10058400"/>
            <a:ext cx="914400" cy="292608"/>
          </a:xfrm>
          <a:prstGeom prst="roundRect">
            <a:avLst/>
          </a:prstGeom>
          <a:solidFill>
            <a:srgbClr val="8DB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Page | 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417320"/>
            <a:ext cx="6949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/>
              <a:t>Combined Ratio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74320" y="1673352"/>
          <a:ext cx="6949440" cy="2075688.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74320" y="3886200"/>
            <a:ext cx="6949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/>
              <a:t>Expense Ratio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74320" y="4142232.0"/>
          <a:ext cx="6949440" cy="2075688.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74320" y="6355080"/>
            <a:ext cx="6949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/>
              <a:t>Loss Ratio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274320" y="6611112.0"/>
          <a:ext cx="6949440" cy="2075688.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274320" y="8778240"/>
            <a:ext cx="6949440" cy="1234440"/>
          </a:xfrm>
          <a:prstGeom prst="roundRect">
            <a:avLst/>
          </a:prstGeom>
          <a:solidFill>
            <a:srgbClr val="FFF7E6"/>
          </a:solidFill>
          <a:ln w="9525">
            <a:solidFill>
              <a:srgbClr val="ED7D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/>
            <a:r>
              <a:rPr sz="1100">
                <a:solidFill>
                  <a:srgbClr val="333333"/>
                </a:solidFill>
              </a:rPr>
              <a:t>➢  STAR has the lowest Combined Ratio at 102.7%</a:t>
            </a:r>
          </a:p>
          <a:p>
            <a:r>
              <a:rPr sz="1100">
                <a:solidFill>
                  <a:srgbClr val="333333"/>
                </a:solidFill>
              </a:rPr>
              <a:t>➢  CIGNA improved the most YoY (+7.0%)</a:t>
            </a:r>
          </a:p>
          <a:p>
            <a:r>
              <a:rPr sz="1100">
                <a:solidFill>
                  <a:srgbClr val="333333"/>
                </a:solidFill>
              </a:rPr>
              <a:t>➢  Galaxy declined the most YoY (-1,954.7%)</a:t>
            </a:r>
          </a:p>
          <a:p>
            <a:r>
              <a:rPr sz="1100">
                <a:solidFill>
                  <a:srgbClr val="333333"/>
                </a:solidFill>
              </a:rPr>
              <a:t>➢  ABHI has the lowest Expense Ratio at 28.0%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F3564"/>
                </a:solidFill>
              </a:rPr>
              <a:t>Competition Analysis FY26 Q3</a:t>
            </a:r>
          </a:p>
        </p:txBody>
      </p:sp>
      <p:pic>
        <p:nvPicPr>
          <p:cNvPr id="3" name="Picture 2" descr="NB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"/>
            <a:ext cx="687605" cy="411480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274320" y="566928"/>
            <a:ext cx="7013448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74320" y="777240"/>
            <a:ext cx="2926080" cy="457200"/>
          </a:xfrm>
          <a:prstGeom prst="round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Key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287000"/>
            <a:ext cx="7562088" cy="40233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i="1">
                <a:solidFill>
                  <a:srgbClr val="FFFFFF"/>
                </a:solidFill>
              </a:rPr>
              <a:t>Our Vision is, "To become India’s most admired Health Insurance Company"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0" y="10058400"/>
            <a:ext cx="914400" cy="292608"/>
          </a:xfrm>
          <a:prstGeom prst="roundRect">
            <a:avLst/>
          </a:prstGeom>
          <a:solidFill>
            <a:srgbClr val="8DB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Page |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417320"/>
            <a:ext cx="6949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/>
              <a:t>Claims Settlement Ratio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74320" y="1673352"/>
          <a:ext cx="6949440" cy="1999488.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74320" y="3810000"/>
            <a:ext cx="6949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/>
              <a:t>Average Claim Size (Rs.)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74320" y="4066032.0"/>
          <a:ext cx="6949440" cy="1999488.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74320" y="6202680"/>
            <a:ext cx="6949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/>
              <a:t>No. of Claims to No. of Policies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274320" y="6458712.0"/>
          <a:ext cx="6949440" cy="1999488.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74320" y="8485632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808080"/>
                </a:solidFill>
              </a:rPr>
              <a:t>Average Claim Size and No. of claims to policies are best-effort estimates (not independently GT-verified) - see Glossary.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8778240"/>
            <a:ext cx="6949440" cy="1234440"/>
          </a:xfrm>
          <a:prstGeom prst="roundRect">
            <a:avLst/>
          </a:prstGeom>
          <a:solidFill>
            <a:srgbClr val="FFF7E6"/>
          </a:solidFill>
          <a:ln w="9525">
            <a:solidFill>
              <a:srgbClr val="ED7D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/>
            <a:r>
              <a:rPr sz="1100">
                <a:solidFill>
                  <a:srgbClr val="333333"/>
                </a:solidFill>
              </a:rPr>
              <a:t>➢  ABHI has the highest Claims Settlement Ratio at 98.4%</a:t>
            </a:r>
          </a:p>
          <a:p>
            <a:r>
              <a:rPr sz="1100">
                <a:solidFill>
                  <a:srgbClr val="333333"/>
                </a:solidFill>
              </a:rPr>
              <a:t>➢  Narayana has the highest Average Claim Size (Rs.) at 272,861.4</a:t>
            </a:r>
          </a:p>
          <a:p>
            <a:r>
              <a:rPr sz="1100">
                <a:solidFill>
                  <a:srgbClr val="333333"/>
                </a:solidFill>
              </a:rPr>
              <a:t>➢  Galaxy has the lowest No. of Claims to No. of Policies at 1.1%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F3564"/>
                </a:solidFill>
              </a:rPr>
              <a:t>Competition Analysis FY26 Q3</a:t>
            </a:r>
          </a:p>
        </p:txBody>
      </p:sp>
      <p:pic>
        <p:nvPicPr>
          <p:cNvPr id="3" name="Picture 2" descr="NB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"/>
            <a:ext cx="687605" cy="411480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274320" y="566928"/>
            <a:ext cx="7013448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74320" y="777240"/>
            <a:ext cx="2926080" cy="457200"/>
          </a:xfrm>
          <a:prstGeom prst="round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Key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287000"/>
            <a:ext cx="7562088" cy="40233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i="1">
                <a:solidFill>
                  <a:srgbClr val="FFFFFF"/>
                </a:solidFill>
              </a:rPr>
              <a:t>Our Vision is, "To become India’s most admired Health Insurance Company"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0" y="10058400"/>
            <a:ext cx="914400" cy="292608"/>
          </a:xfrm>
          <a:prstGeom prst="roundRect">
            <a:avLst/>
          </a:prstGeom>
          <a:solidFill>
            <a:srgbClr val="8DB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Page | 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417320"/>
            <a:ext cx="6949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/>
              <a:t>Opex. To GWP ratio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74320" y="1673352"/>
          <a:ext cx="6949440" cy="2075688.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74320" y="3886200"/>
            <a:ext cx="6949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/>
              <a:t>Manpower to GWP ratio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74320" y="4142232.0"/>
          <a:ext cx="6949440" cy="2075688.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74320" y="6355080"/>
            <a:ext cx="6949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/>
              <a:t>IT spend to GWP ratio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274320" y="6611112.0"/>
          <a:ext cx="6949440" cy="2075688.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274320" y="8778240"/>
            <a:ext cx="6949440" cy="1234440"/>
          </a:xfrm>
          <a:prstGeom prst="roundRect">
            <a:avLst/>
          </a:prstGeom>
          <a:solidFill>
            <a:srgbClr val="FFF7E6"/>
          </a:solidFill>
          <a:ln w="9525">
            <a:solidFill>
              <a:srgbClr val="ED7D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/>
            <a:r>
              <a:rPr sz="1100">
                <a:solidFill>
                  <a:srgbClr val="333333"/>
                </a:solidFill>
              </a:rPr>
              <a:t>➢  CARE has the lowest Opex. To GWP ratio at 14.2%</a:t>
            </a:r>
          </a:p>
          <a:p>
            <a:r>
              <a:rPr sz="1100">
                <a:solidFill>
                  <a:srgbClr val="333333"/>
                </a:solidFill>
              </a:rPr>
              <a:t>➢  STAR improved the most YoY (+0.4%)</a:t>
            </a:r>
          </a:p>
          <a:p>
            <a:r>
              <a:rPr sz="1100">
                <a:solidFill>
                  <a:srgbClr val="333333"/>
                </a:solidFill>
              </a:rPr>
              <a:t>➢  Galaxy declined the most YoY (-1,831.4%)</a:t>
            </a:r>
          </a:p>
          <a:p>
            <a:r>
              <a:rPr sz="1100">
                <a:solidFill>
                  <a:srgbClr val="333333"/>
                </a:solidFill>
              </a:rPr>
              <a:t>➢  NBHI has the lowest Manpower to GWP ratio at 9.1%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F3564"/>
                </a:solidFill>
              </a:rPr>
              <a:t>Competition Analysis FY26 Q3</a:t>
            </a:r>
          </a:p>
        </p:txBody>
      </p:sp>
      <p:pic>
        <p:nvPicPr>
          <p:cNvPr id="3" name="Picture 2" descr="NB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"/>
            <a:ext cx="687605" cy="411480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274320" y="566928"/>
            <a:ext cx="7013448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74320" y="777240"/>
            <a:ext cx="2926080" cy="457200"/>
          </a:xfrm>
          <a:prstGeom prst="round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Key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287000"/>
            <a:ext cx="7562088" cy="40233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i="1">
                <a:solidFill>
                  <a:srgbClr val="FFFFFF"/>
                </a:solidFill>
              </a:rPr>
              <a:t>Our Vision is, "To become India’s most admired Health Insurance Company"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0" y="10058400"/>
            <a:ext cx="914400" cy="292608"/>
          </a:xfrm>
          <a:prstGeom prst="roundRect">
            <a:avLst/>
          </a:prstGeom>
          <a:solidFill>
            <a:srgbClr val="8DB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Page |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417320"/>
            <a:ext cx="6949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/>
              <a:t>Manpower cost to total Opex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74320" y="1673352"/>
          <a:ext cx="6949440" cy="2075688.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74320" y="3886200"/>
            <a:ext cx="6949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/>
              <a:t>Manpower cost per employee (Rs.)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74320" y="4142232.0"/>
          <a:ext cx="6949440" cy="2075688.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74320" y="6355080"/>
            <a:ext cx="6949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/>
              <a:t>Facility rental per office per month (Rs. Lakhs)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274320" y="6611112.0"/>
          <a:ext cx="6949440" cy="2075688.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274320" y="8778240"/>
            <a:ext cx="6949440" cy="1234440"/>
          </a:xfrm>
          <a:prstGeom prst="roundRect">
            <a:avLst/>
          </a:prstGeom>
          <a:solidFill>
            <a:srgbClr val="FFF7E6"/>
          </a:solidFill>
          <a:ln w="9525">
            <a:solidFill>
              <a:srgbClr val="ED7D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/>
            <a:r>
              <a:rPr sz="1100">
                <a:solidFill>
                  <a:srgbClr val="333333"/>
                </a:solidFill>
              </a:rPr>
              <a:t>➢  CARE has the highest Manpower cost to total Opex at 73.6%</a:t>
            </a:r>
          </a:p>
          <a:p>
            <a:r>
              <a:rPr sz="1100">
                <a:solidFill>
                  <a:srgbClr val="333333"/>
                </a:solidFill>
              </a:rPr>
              <a:t>➢  Narayana improved the most YoY (+9.4%)</a:t>
            </a:r>
          </a:p>
          <a:p>
            <a:r>
              <a:rPr sz="1100">
                <a:solidFill>
                  <a:srgbClr val="333333"/>
                </a:solidFill>
              </a:rPr>
              <a:t>➢  NBHI declined the most YoY (-7.7%)</a:t>
            </a:r>
          </a:p>
          <a:p>
            <a:r>
              <a:rPr sz="1100">
                <a:solidFill>
                  <a:srgbClr val="333333"/>
                </a:solidFill>
              </a:rPr>
              <a:t>➢  Narayana has the highest Manpower cost per employee (Rs.) at 8.1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F3564"/>
                </a:solidFill>
              </a:rPr>
              <a:t>Competition Analysis FY26 Q3</a:t>
            </a:r>
          </a:p>
        </p:txBody>
      </p:sp>
      <p:pic>
        <p:nvPicPr>
          <p:cNvPr id="3" name="Picture 2" descr="NB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"/>
            <a:ext cx="687605" cy="411480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274320" y="566928"/>
            <a:ext cx="7013448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74320" y="777240"/>
            <a:ext cx="2926080" cy="457200"/>
          </a:xfrm>
          <a:prstGeom prst="round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Key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287000"/>
            <a:ext cx="7562088" cy="40233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i="1">
                <a:solidFill>
                  <a:srgbClr val="FFFFFF"/>
                </a:solidFill>
              </a:rPr>
              <a:t>Our Vision is, "To become India’s most admired Health Insurance Company"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0" y="10058400"/>
            <a:ext cx="914400" cy="292608"/>
          </a:xfrm>
          <a:prstGeom prst="roundRect">
            <a:avLst/>
          </a:prstGeom>
          <a:solidFill>
            <a:srgbClr val="8DB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Page |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417320"/>
            <a:ext cx="6949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/>
              <a:t>Capital (Rs. Crore)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74320" y="1673352"/>
          <a:ext cx="6949440" cy="2075688.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74320" y="3886200"/>
            <a:ext cx="6949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/>
              <a:t>Net Worth (Rs. Lakhs)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74320" y="4142232.0"/>
          <a:ext cx="6949440" cy="2075688.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74320" y="6355080"/>
            <a:ext cx="6949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/>
              <a:t>PBT (Rs. Crore)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274320" y="6611112.0"/>
          <a:ext cx="6949440" cy="2075688.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274320" y="8778240"/>
            <a:ext cx="6949440" cy="1234440"/>
          </a:xfrm>
          <a:prstGeom prst="roundRect">
            <a:avLst/>
          </a:prstGeom>
          <a:solidFill>
            <a:srgbClr val="FFF7E6"/>
          </a:solidFill>
          <a:ln w="9525">
            <a:solidFill>
              <a:srgbClr val="ED7D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/>
            <a:r>
              <a:rPr sz="1100">
                <a:solidFill>
                  <a:srgbClr val="333333"/>
                </a:solidFill>
              </a:rPr>
              <a:t>➢  CIGNA has the highest Capital (Rs. Crore) at 1,919.2</a:t>
            </a:r>
          </a:p>
          <a:p>
            <a:r>
              <a:rPr sz="1100">
                <a:solidFill>
                  <a:srgbClr val="333333"/>
                </a:solidFill>
              </a:rPr>
              <a:t>➢  CIGNA improved the most YoY (+274.0)</a:t>
            </a:r>
          </a:p>
          <a:p>
            <a:r>
              <a:rPr sz="1100">
                <a:solidFill>
                  <a:srgbClr val="333333"/>
                </a:solidFill>
              </a:rPr>
              <a:t>➢  STAR has the highest Net Worth (Rs. Lakhs) at 768,209.0</a:t>
            </a:r>
          </a:p>
          <a:p>
            <a:r>
              <a:rPr sz="1100">
                <a:solidFill>
                  <a:srgbClr val="333333"/>
                </a:solidFill>
              </a:rPr>
              <a:t>➢  STAR improved the most YoY (+63,751.0)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F3564"/>
                </a:solidFill>
              </a:rPr>
              <a:t>Competition Analysis FY26 Q3</a:t>
            </a:r>
          </a:p>
        </p:txBody>
      </p:sp>
      <p:pic>
        <p:nvPicPr>
          <p:cNvPr id="3" name="Picture 2" descr="NB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"/>
            <a:ext cx="687605" cy="411480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274320" y="566928"/>
            <a:ext cx="7013448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74320" y="777240"/>
            <a:ext cx="2926080" cy="457200"/>
          </a:xfrm>
          <a:prstGeom prst="round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Investment Portfolio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287000"/>
            <a:ext cx="7562088" cy="40233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i="1">
                <a:solidFill>
                  <a:srgbClr val="FFFFFF"/>
                </a:solidFill>
              </a:rPr>
              <a:t>Our Vision is, "To become India’s most admired Health Insurance Company"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0" y="10058400"/>
            <a:ext cx="914400" cy="292608"/>
          </a:xfrm>
          <a:prstGeom prst="roundRect">
            <a:avLst/>
          </a:prstGeom>
          <a:solidFill>
            <a:srgbClr val="8DB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Page |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417320"/>
            <a:ext cx="6949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/>
              <a:t>FY26 Q3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57200" y="1691640"/>
          <a:ext cx="6583680" cy="3383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74320" y="5212080"/>
            <a:ext cx="6949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/>
              <a:t>FY25 Q3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457200" y="5486400"/>
          <a:ext cx="6583680" cy="33832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274320" y="8778240"/>
            <a:ext cx="6949440" cy="1234440"/>
          </a:xfrm>
          <a:prstGeom prst="roundRect">
            <a:avLst/>
          </a:prstGeom>
          <a:solidFill>
            <a:srgbClr val="FFF7E6"/>
          </a:solidFill>
          <a:ln w="9525">
            <a:solidFill>
              <a:srgbClr val="ED7D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/>
            <a:r>
              <a:rPr sz="1100">
                <a:solidFill>
                  <a:srgbClr val="333333"/>
                </a:solidFill>
              </a:rPr>
              <a:t>➢  Investment mix as % of each company's own book value, FY26 Q3 vs FY25 Q3.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F3564"/>
                </a:solidFill>
              </a:rPr>
              <a:t>Competition Analysis FY26 Q3</a:t>
            </a:r>
          </a:p>
        </p:txBody>
      </p:sp>
      <p:pic>
        <p:nvPicPr>
          <p:cNvPr id="3" name="Picture 2" descr="NB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"/>
            <a:ext cx="687605" cy="411480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274320" y="566928"/>
            <a:ext cx="7013448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74320" y="777240"/>
            <a:ext cx="2926080" cy="457200"/>
          </a:xfrm>
          <a:prstGeom prst="round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Debt Portfolio: Credit Rating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287000"/>
            <a:ext cx="7562088" cy="40233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i="1">
                <a:solidFill>
                  <a:srgbClr val="FFFFFF"/>
                </a:solidFill>
              </a:rPr>
              <a:t>Our Vision is, "To become India’s most admired Health Insurance Company"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0" y="10058400"/>
            <a:ext cx="914400" cy="292608"/>
          </a:xfrm>
          <a:prstGeom prst="roundRect">
            <a:avLst/>
          </a:prstGeom>
          <a:solidFill>
            <a:srgbClr val="8DB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Page |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417320"/>
            <a:ext cx="6949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/>
              <a:t>FY26 Q3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57200" y="1691640"/>
          <a:ext cx="6583680" cy="3383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74320" y="5212080"/>
            <a:ext cx="6949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/>
              <a:t>FY25 Q3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457200" y="5486400"/>
          <a:ext cx="6583680" cy="33832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274320" y="8778240"/>
            <a:ext cx="6949440" cy="1234440"/>
          </a:xfrm>
          <a:prstGeom prst="roundRect">
            <a:avLst/>
          </a:prstGeom>
          <a:solidFill>
            <a:srgbClr val="FFF7E6"/>
          </a:solidFill>
          <a:ln w="9525">
            <a:solidFill>
              <a:srgbClr val="ED7D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/>
            <a:r>
              <a:rPr sz="1100">
                <a:solidFill>
                  <a:srgbClr val="333333"/>
                </a:solidFill>
              </a:rPr>
              <a:t>➢  Exposure by credit rating, FY26 Q3 vs FY25 Q3.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F3564"/>
                </a:solidFill>
              </a:rPr>
              <a:t>Competition Analysis FY26 Q3</a:t>
            </a:r>
          </a:p>
        </p:txBody>
      </p:sp>
      <p:pic>
        <p:nvPicPr>
          <p:cNvPr id="3" name="Picture 2" descr="NB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"/>
            <a:ext cx="687605" cy="411480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274320" y="566928"/>
            <a:ext cx="7013448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74320" y="777240"/>
            <a:ext cx="2926080" cy="457200"/>
          </a:xfrm>
          <a:prstGeom prst="round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Debt Portfolio: Residual Maturity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287000"/>
            <a:ext cx="7562088" cy="40233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i="1">
                <a:solidFill>
                  <a:srgbClr val="FFFFFF"/>
                </a:solidFill>
              </a:rPr>
              <a:t>Our Vision is, "To become India’s most admired Health Insurance Company"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0" y="10058400"/>
            <a:ext cx="914400" cy="292608"/>
          </a:xfrm>
          <a:prstGeom prst="roundRect">
            <a:avLst/>
          </a:prstGeom>
          <a:solidFill>
            <a:srgbClr val="8DB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Page | 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417320"/>
            <a:ext cx="6949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/>
              <a:t>FY26 Q3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57200" y="1691640"/>
          <a:ext cx="6583680" cy="3383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74320" y="5212080"/>
            <a:ext cx="6949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/>
              <a:t>FY25 Q3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457200" y="5486400"/>
          <a:ext cx="6583680" cy="33832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274320" y="8778240"/>
            <a:ext cx="6949440" cy="1234440"/>
          </a:xfrm>
          <a:prstGeom prst="roundRect">
            <a:avLst/>
          </a:prstGeom>
          <a:solidFill>
            <a:srgbClr val="FFF7E6"/>
          </a:solidFill>
          <a:ln w="9525">
            <a:solidFill>
              <a:srgbClr val="ED7D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/>
            <a:r>
              <a:rPr sz="1100">
                <a:solidFill>
                  <a:srgbClr val="333333"/>
                </a:solidFill>
              </a:rPr>
              <a:t>➢  Exposure by residual maturity, FY26 Q3 vs FY25 Q3.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F3564"/>
                </a:solidFill>
              </a:rPr>
              <a:t>Competition Analysis FY26 Q3</a:t>
            </a:r>
          </a:p>
        </p:txBody>
      </p:sp>
      <p:pic>
        <p:nvPicPr>
          <p:cNvPr id="3" name="Picture 2" descr="NB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"/>
            <a:ext cx="687605" cy="411480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274320" y="566928"/>
            <a:ext cx="7013448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74320" y="777240"/>
            <a:ext cx="2926080" cy="457200"/>
          </a:xfrm>
          <a:prstGeom prst="round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Historical Trends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287000"/>
            <a:ext cx="7562088" cy="40233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i="1">
                <a:solidFill>
                  <a:srgbClr val="FFFFFF"/>
                </a:solidFill>
              </a:rPr>
              <a:t>Our Vision is, "To become India’s most admired Health Insurance Company"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0" y="10058400"/>
            <a:ext cx="914400" cy="292608"/>
          </a:xfrm>
          <a:prstGeom prst="roundRect">
            <a:avLst/>
          </a:prstGeom>
          <a:solidFill>
            <a:srgbClr val="8DB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Page |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417320"/>
            <a:ext cx="6949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/>
              <a:t>GWP (Rs. Crore)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74320" y="1673352"/>
          <a:ext cx="6949440" cy="3195828.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74320" y="5006340"/>
            <a:ext cx="6949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/>
              <a:t>PBT (Rs. Crore)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74320" y="5262372.0"/>
          <a:ext cx="6949440" cy="3195828.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74320" y="8485632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808080"/>
                </a:solidFill>
              </a:rPr>
              <a:t>Quarterly YoY comparison (FY25 Q3 vs FY26 Q3), not multi-year history - a full trend line requires accumulating quarterly snapshots over future pipeline runs.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8778240"/>
            <a:ext cx="6949440" cy="1234440"/>
          </a:xfrm>
          <a:prstGeom prst="roundRect">
            <a:avLst/>
          </a:prstGeom>
          <a:solidFill>
            <a:srgbClr val="FFF7E6"/>
          </a:solidFill>
          <a:ln w="9525">
            <a:solidFill>
              <a:srgbClr val="ED7D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/>
            <a:r>
              <a:rPr sz="1100">
                <a:solidFill>
                  <a:srgbClr val="333333"/>
                </a:solidFill>
              </a:rPr>
              <a:t>➢  STAR has the highest GWP (Rs. Crore) at 12,638.2</a:t>
            </a:r>
          </a:p>
          <a:p>
            <a:r>
              <a:rPr sz="1100">
                <a:solidFill>
                  <a:srgbClr val="333333"/>
                </a:solidFill>
              </a:rPr>
              <a:t>➢  ABHI improved the most YoY (+1,199.6)</a:t>
            </a:r>
          </a:p>
          <a:p>
            <a:r>
              <a:rPr sz="1100">
                <a:solidFill>
                  <a:srgbClr val="333333"/>
                </a:solidFill>
              </a:rPr>
              <a:t>➢  STAR has the highest PBT (Rs. Crore) at 603.1</a:t>
            </a:r>
          </a:p>
          <a:p>
            <a:r>
              <a:rPr sz="1100">
                <a:solidFill>
                  <a:srgbClr val="333333"/>
                </a:solidFill>
              </a:rPr>
              <a:t>➢  ABHI improved the most YoY (+19.5)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F3564"/>
                </a:solidFill>
              </a:rPr>
              <a:t>Competition Analysis FY26 Q3</a:t>
            </a:r>
          </a:p>
        </p:txBody>
      </p:sp>
      <p:pic>
        <p:nvPicPr>
          <p:cNvPr id="3" name="Picture 2" descr="NB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"/>
            <a:ext cx="687605" cy="411480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274320" y="566928"/>
            <a:ext cx="7013448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74320" y="777240"/>
            <a:ext cx="2926080" cy="457200"/>
          </a:xfrm>
          <a:prstGeom prst="round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Historical Trends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287000"/>
            <a:ext cx="7562088" cy="40233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i="1">
                <a:solidFill>
                  <a:srgbClr val="FFFFFF"/>
                </a:solidFill>
              </a:rPr>
              <a:t>Our Vision is, "To become India’s most admired Health Insurance Company"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0" y="10058400"/>
            <a:ext cx="914400" cy="292608"/>
          </a:xfrm>
          <a:prstGeom prst="roundRect">
            <a:avLst/>
          </a:prstGeom>
          <a:solidFill>
            <a:srgbClr val="8DB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Page |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417320"/>
            <a:ext cx="6949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/>
              <a:t>Combined Ratio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74320" y="1673352"/>
          <a:ext cx="6949440" cy="3195828.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74320" y="5006340"/>
            <a:ext cx="6949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/>
              <a:t>Loss Ratio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74320" y="5262372.0"/>
          <a:ext cx="6949440" cy="3195828.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74320" y="8485632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808080"/>
                </a:solidFill>
              </a:rPr>
              <a:t>Quarterly YoY comparison (FY25 Q3 vs FY26 Q3), not multi-year history - a full trend line requires accumulating quarterly snapshots over future pipeline runs.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8778240"/>
            <a:ext cx="6949440" cy="1234440"/>
          </a:xfrm>
          <a:prstGeom prst="roundRect">
            <a:avLst/>
          </a:prstGeom>
          <a:solidFill>
            <a:srgbClr val="FFF7E6"/>
          </a:solidFill>
          <a:ln w="9525">
            <a:solidFill>
              <a:srgbClr val="ED7D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/>
            <a:r>
              <a:rPr sz="1100">
                <a:solidFill>
                  <a:srgbClr val="333333"/>
                </a:solidFill>
              </a:rPr>
              <a:t>➢  STAR has the lowest Combined Ratio at 102.7%</a:t>
            </a:r>
          </a:p>
          <a:p>
            <a:r>
              <a:rPr sz="1100">
                <a:solidFill>
                  <a:srgbClr val="333333"/>
                </a:solidFill>
              </a:rPr>
              <a:t>➢  CIGNA improved the most YoY (+7.0%)</a:t>
            </a:r>
          </a:p>
          <a:p>
            <a:r>
              <a:rPr sz="1100">
                <a:solidFill>
                  <a:srgbClr val="333333"/>
                </a:solidFill>
              </a:rPr>
              <a:t>➢  Galaxy declined the most YoY (-1,954.7%)</a:t>
            </a:r>
          </a:p>
          <a:p>
            <a:r>
              <a:rPr sz="1100">
                <a:solidFill>
                  <a:srgbClr val="333333"/>
                </a:solidFill>
              </a:rPr>
              <a:t>➢  Galaxy has the lowest Loss Ratio at 32.9%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F3564"/>
                </a:solidFill>
              </a:rPr>
              <a:t>Competition Analysis FY26 Q3</a:t>
            </a:r>
          </a:p>
        </p:txBody>
      </p:sp>
      <p:pic>
        <p:nvPicPr>
          <p:cNvPr id="3" name="Picture 2" descr="NB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"/>
            <a:ext cx="687605" cy="411480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274320" y="566928"/>
            <a:ext cx="7013448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74320" y="777240"/>
            <a:ext cx="2926080" cy="457200"/>
          </a:xfrm>
          <a:prstGeom prst="round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Historical Trends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287000"/>
            <a:ext cx="7562088" cy="40233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i="1">
                <a:solidFill>
                  <a:srgbClr val="FFFFFF"/>
                </a:solidFill>
              </a:rPr>
              <a:t>Our Vision is, "To become India’s most admired Health Insurance Company"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0" y="10058400"/>
            <a:ext cx="914400" cy="292608"/>
          </a:xfrm>
          <a:prstGeom prst="roundRect">
            <a:avLst/>
          </a:prstGeom>
          <a:solidFill>
            <a:srgbClr val="8DB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Page | 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417320"/>
            <a:ext cx="6949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/>
              <a:t>Expense Ratio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74320" y="1673352"/>
          <a:ext cx="6949440" cy="3195828.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74320" y="5006340"/>
            <a:ext cx="6949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/>
              <a:t>Expense of Management Ratio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74320" y="5262372.0"/>
          <a:ext cx="6949440" cy="3195828.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74320" y="8485632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808080"/>
                </a:solidFill>
              </a:rPr>
              <a:t>Quarterly YoY comparison (FY25 Q3 vs FY26 Q3), not multi-year history - a full trend line requires accumulating quarterly snapshots over future pipeline runs.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8778240"/>
            <a:ext cx="6949440" cy="1234440"/>
          </a:xfrm>
          <a:prstGeom prst="roundRect">
            <a:avLst/>
          </a:prstGeom>
          <a:solidFill>
            <a:srgbClr val="FFF7E6"/>
          </a:solidFill>
          <a:ln w="9525">
            <a:solidFill>
              <a:srgbClr val="ED7D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/>
            <a:r>
              <a:rPr sz="1100">
                <a:solidFill>
                  <a:srgbClr val="333333"/>
                </a:solidFill>
              </a:rPr>
              <a:t>➢  ABHI has the lowest Expense Ratio at 28.0%</a:t>
            </a:r>
          </a:p>
          <a:p>
            <a:r>
              <a:rPr sz="1100">
                <a:solidFill>
                  <a:srgbClr val="333333"/>
                </a:solidFill>
              </a:rPr>
              <a:t>➢  STAR improved the most YoY (+1.7%)</a:t>
            </a:r>
          </a:p>
          <a:p>
            <a:r>
              <a:rPr sz="1100">
                <a:solidFill>
                  <a:srgbClr val="333333"/>
                </a:solidFill>
              </a:rPr>
              <a:t>➢  Galaxy declined the most YoY (-1,977.1%)</a:t>
            </a:r>
          </a:p>
          <a:p>
            <a:r>
              <a:rPr sz="1100">
                <a:solidFill>
                  <a:srgbClr val="333333"/>
                </a:solidFill>
              </a:rPr>
              <a:t>➢  STAR has the lowest Expense of Management Ratio at 33.2%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F3564"/>
                </a:solidFill>
              </a:rPr>
              <a:t>Competition Analysis FY26 Q3</a:t>
            </a:r>
          </a:p>
        </p:txBody>
      </p:sp>
      <p:pic>
        <p:nvPicPr>
          <p:cNvPr id="3" name="Picture 2" descr="NB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"/>
            <a:ext cx="687605" cy="411480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274320" y="566928"/>
            <a:ext cx="7013448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74320" y="777240"/>
            <a:ext cx="2926080" cy="457200"/>
          </a:xfrm>
          <a:prstGeom prst="round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Historical Trends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287000"/>
            <a:ext cx="7562088" cy="40233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i="1">
                <a:solidFill>
                  <a:srgbClr val="FFFFFF"/>
                </a:solidFill>
              </a:rPr>
              <a:t>Our Vision is, "To become India’s most admired Health Insurance Company"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0" y="10058400"/>
            <a:ext cx="914400" cy="292608"/>
          </a:xfrm>
          <a:prstGeom prst="roundRect">
            <a:avLst/>
          </a:prstGeom>
          <a:solidFill>
            <a:srgbClr val="8DB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Page |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417320"/>
            <a:ext cx="6949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/>
              <a:t>RI Ceding to GWP Ratio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74320" y="1673352"/>
          <a:ext cx="6949440" cy="3195828.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74320" y="5006340"/>
            <a:ext cx="6949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/>
              <a:t>RI Commission to RI Ceding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74320" y="5262372.0"/>
          <a:ext cx="6949440" cy="3195828.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74320" y="8485632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808080"/>
                </a:solidFill>
              </a:rPr>
              <a:t>Quarterly YoY comparison (FY25 Q3 vs FY26 Q3), not multi-year history - a full trend line requires accumulating quarterly snapshots over future pipeline runs.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8778240"/>
            <a:ext cx="6949440" cy="1234440"/>
          </a:xfrm>
          <a:prstGeom prst="roundRect">
            <a:avLst/>
          </a:prstGeom>
          <a:solidFill>
            <a:srgbClr val="FFF7E6"/>
          </a:solidFill>
          <a:ln w="9525">
            <a:solidFill>
              <a:srgbClr val="ED7D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/>
            <a:r>
              <a:rPr sz="1100">
                <a:solidFill>
                  <a:srgbClr val="333333"/>
                </a:solidFill>
              </a:rPr>
              <a:t>➢  ABHI has the highest RI Ceding to GWP Ratio at 28.9%</a:t>
            </a:r>
          </a:p>
          <a:p>
            <a:r>
              <a:rPr sz="1100">
                <a:solidFill>
                  <a:srgbClr val="333333"/>
                </a:solidFill>
              </a:rPr>
              <a:t>➢  ABHI has the highest RI Commission to RI Ceding at 59.0%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F3564"/>
                </a:solidFill>
              </a:rPr>
              <a:t>Competition Analysis FY26 Q3</a:t>
            </a:r>
          </a:p>
        </p:txBody>
      </p:sp>
      <p:pic>
        <p:nvPicPr>
          <p:cNvPr id="3" name="Picture 2" descr="NB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"/>
            <a:ext cx="687605" cy="411480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274320" y="566928"/>
            <a:ext cx="7013448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74320" y="777240"/>
            <a:ext cx="2926080" cy="457200"/>
          </a:xfrm>
          <a:prstGeom prst="round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Historical Trends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287000"/>
            <a:ext cx="7562088" cy="40233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i="1">
                <a:solidFill>
                  <a:srgbClr val="FFFFFF"/>
                </a:solidFill>
              </a:rPr>
              <a:t>Our Vision is, "To become India’s most admired Health Insurance Company"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0" y="10058400"/>
            <a:ext cx="914400" cy="292608"/>
          </a:xfrm>
          <a:prstGeom prst="roundRect">
            <a:avLst/>
          </a:prstGeom>
          <a:solidFill>
            <a:srgbClr val="8DB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Page | 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417320"/>
            <a:ext cx="6949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/>
              <a:t>ROE (SAHI)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74320" y="1673352"/>
          <a:ext cx="6949440" cy="3195828.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74320" y="5006340"/>
            <a:ext cx="6949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/>
              <a:t>Solvency Ratio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74320" y="5262372.0"/>
          <a:ext cx="6949440" cy="3195828.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74320" y="8485632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808080"/>
                </a:solidFill>
              </a:rPr>
              <a:t>Quarterly YoY comparison (FY25 Q3 vs FY26 Q3), not multi-year history - a full trend line requires accumulating quarterly snapshots over future pipeline runs.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8778240"/>
            <a:ext cx="6949440" cy="1234440"/>
          </a:xfrm>
          <a:prstGeom prst="roundRect">
            <a:avLst/>
          </a:prstGeom>
          <a:solidFill>
            <a:srgbClr val="FFF7E6"/>
          </a:solidFill>
          <a:ln w="9525">
            <a:solidFill>
              <a:srgbClr val="ED7D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/>
            <a:r>
              <a:rPr sz="1100">
                <a:solidFill>
                  <a:srgbClr val="333333"/>
                </a:solidFill>
              </a:rPr>
              <a:t>➢  STAR has the highest ROE (SAHI) at 6.0%</a:t>
            </a:r>
          </a:p>
          <a:p>
            <a:r>
              <a:rPr sz="1100">
                <a:solidFill>
                  <a:srgbClr val="333333"/>
                </a:solidFill>
              </a:rPr>
              <a:t>➢  Galaxy has the highest Solvency Ratio at 3.2x</a:t>
            </a:r>
          </a:p>
          <a:p>
            <a:r>
              <a:rPr sz="1100">
                <a:solidFill>
                  <a:srgbClr val="333333"/>
                </a:solidFill>
              </a:rPr>
              <a:t>➢  CARE improved the most YoY (+0.1x)</a:t>
            </a:r>
          </a:p>
          <a:p>
            <a:r>
              <a:rPr sz="1100">
                <a:solidFill>
                  <a:srgbClr val="333333"/>
                </a:solidFill>
              </a:rPr>
              <a:t>➢  Galaxy declined the most YoY (-2.0x)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F3564"/>
                </a:solidFill>
              </a:rPr>
              <a:t>Competition Analysis FY26 Q3</a:t>
            </a:r>
          </a:p>
        </p:txBody>
      </p:sp>
      <p:pic>
        <p:nvPicPr>
          <p:cNvPr id="3" name="Picture 2" descr="NB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"/>
            <a:ext cx="687605" cy="411480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274320" y="566928"/>
            <a:ext cx="7013448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74320" y="777240"/>
            <a:ext cx="2926080" cy="457200"/>
          </a:xfrm>
          <a:prstGeom prst="round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Asset Under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287000"/>
            <a:ext cx="7562088" cy="40233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i="1">
                <a:solidFill>
                  <a:srgbClr val="FFFFFF"/>
                </a:solidFill>
              </a:rPr>
              <a:t>Our Vision is, "To become India’s most admired Health Insurance Company"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0" y="10058400"/>
            <a:ext cx="914400" cy="292608"/>
          </a:xfrm>
          <a:prstGeom prst="roundRect">
            <a:avLst/>
          </a:prstGeom>
          <a:solidFill>
            <a:srgbClr val="8DB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Page |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417320"/>
            <a:ext cx="6949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/>
              <a:t>AUM (Overall, Rs. Crore)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74320" y="1673352"/>
          <a:ext cx="6949440" cy="3310128.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74320" y="5120640"/>
            <a:ext cx="6949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/>
              <a:t>Investment Yield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74320" y="5376672.0"/>
          <a:ext cx="6949440" cy="3310128.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274320" y="8778240"/>
            <a:ext cx="6949440" cy="1234440"/>
          </a:xfrm>
          <a:prstGeom prst="roundRect">
            <a:avLst/>
          </a:prstGeom>
          <a:solidFill>
            <a:srgbClr val="FFF7E6"/>
          </a:solidFill>
          <a:ln w="9525">
            <a:solidFill>
              <a:srgbClr val="ED7D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/>
            <a:r>
              <a:rPr sz="1100">
                <a:solidFill>
                  <a:srgbClr val="333333"/>
                </a:solidFill>
              </a:rPr>
              <a:t>➢  STAR has the highest AUM (Overall, Rs. Crore) at 19,200.1</a:t>
            </a:r>
          </a:p>
          <a:p>
            <a:r>
              <a:rPr sz="1100">
                <a:solidFill>
                  <a:srgbClr val="333333"/>
                </a:solidFill>
              </a:rPr>
              <a:t>➢  STAR improved the most YoY (+2,533.7)</a:t>
            </a:r>
          </a:p>
          <a:p>
            <a:r>
              <a:rPr sz="1100">
                <a:solidFill>
                  <a:srgbClr val="333333"/>
                </a:solidFill>
              </a:rPr>
              <a:t>➢  Galaxy declined the most YoY (-46.7)</a:t>
            </a:r>
          </a:p>
          <a:p>
            <a:r>
              <a:rPr sz="1100">
                <a:solidFill>
                  <a:srgbClr val="333333"/>
                </a:solidFill>
              </a:rPr>
              <a:t>➢  Galaxy has the highest Investment Yield at 6.0%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F3564"/>
                </a:solidFill>
              </a:rPr>
              <a:t>Competition Analysis FY26 Q3</a:t>
            </a:r>
          </a:p>
        </p:txBody>
      </p:sp>
      <p:pic>
        <p:nvPicPr>
          <p:cNvPr id="3" name="Picture 2" descr="NB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"/>
            <a:ext cx="687605" cy="411480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274320" y="566928"/>
            <a:ext cx="7013448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74320" y="777240"/>
            <a:ext cx="2926080" cy="457200"/>
          </a:xfrm>
          <a:prstGeom prst="round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Asset Under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287000"/>
            <a:ext cx="7562088" cy="40233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i="1">
                <a:solidFill>
                  <a:srgbClr val="FFFFFF"/>
                </a:solidFill>
              </a:rPr>
              <a:t>Our Vision is, "To become India’s most admired Health Insurance Company"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0" y="10058400"/>
            <a:ext cx="914400" cy="292608"/>
          </a:xfrm>
          <a:prstGeom prst="roundRect">
            <a:avLst/>
          </a:prstGeom>
          <a:solidFill>
            <a:srgbClr val="8DB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Page |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417320"/>
            <a:ext cx="6949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/>
              <a:t>AUM - Policyholders (Rs. Crore)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74320" y="1673352"/>
          <a:ext cx="6949440" cy="3310128.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74320" y="5120640"/>
            <a:ext cx="6949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/>
              <a:t>AUM - Shareholders (Rs. Crore)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74320" y="5376672.0"/>
          <a:ext cx="6949440" cy="3310128.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274320" y="8778240"/>
            <a:ext cx="6949440" cy="1234440"/>
          </a:xfrm>
          <a:prstGeom prst="roundRect">
            <a:avLst/>
          </a:prstGeom>
          <a:solidFill>
            <a:srgbClr val="FFF7E6"/>
          </a:solidFill>
          <a:ln w="9525">
            <a:solidFill>
              <a:srgbClr val="ED7D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/>
            <a:r>
              <a:rPr sz="1100">
                <a:solidFill>
                  <a:srgbClr val="333333"/>
                </a:solidFill>
              </a:rPr>
              <a:t>➢  STAR has the highest AUM - Policyholders (Rs. Crore) at 11,658.1</a:t>
            </a:r>
          </a:p>
          <a:p>
            <a:r>
              <a:rPr sz="1100">
                <a:solidFill>
                  <a:srgbClr val="333333"/>
                </a:solidFill>
              </a:rPr>
              <a:t>➢  CARE improved the most YoY (+2,132.5)</a:t>
            </a:r>
          </a:p>
          <a:p>
            <a:r>
              <a:rPr sz="1100">
                <a:solidFill>
                  <a:srgbClr val="333333"/>
                </a:solidFill>
              </a:rPr>
              <a:t>➢  STAR has the highest AUM - Shareholders (Rs. Crore) at 7,542.0</a:t>
            </a:r>
          </a:p>
          <a:p>
            <a:r>
              <a:rPr sz="1100">
                <a:solidFill>
                  <a:srgbClr val="333333"/>
                </a:solidFill>
              </a:rPr>
              <a:t>➢  STAR improved the most YoY (+573.8)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F3564"/>
                </a:solidFill>
              </a:rPr>
              <a:t>Competition Analysis FY26 Q3</a:t>
            </a:r>
          </a:p>
        </p:txBody>
      </p:sp>
      <p:pic>
        <p:nvPicPr>
          <p:cNvPr id="3" name="Picture 2" descr="NB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"/>
            <a:ext cx="687605" cy="411480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274320" y="566928"/>
            <a:ext cx="7013448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74320" y="777240"/>
            <a:ext cx="2926080" cy="457200"/>
          </a:xfrm>
          <a:prstGeom prst="round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Distribution Footprint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287000"/>
            <a:ext cx="7562088" cy="40233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i="1">
                <a:solidFill>
                  <a:srgbClr val="FFFFFF"/>
                </a:solidFill>
              </a:rPr>
              <a:t>Our Vision is, "To become India’s most admired Health Insurance Company"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0" y="10058400"/>
            <a:ext cx="914400" cy="292608"/>
          </a:xfrm>
          <a:prstGeom prst="roundRect">
            <a:avLst/>
          </a:prstGeom>
          <a:solidFill>
            <a:srgbClr val="8DB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Page | 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417320"/>
            <a:ext cx="6949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/>
              <a:t>Employees (On-roll)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74320" y="1673352"/>
          <a:ext cx="6949440" cy="3310128.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74320" y="5120640"/>
            <a:ext cx="6949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/>
              <a:t>Individual Agents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74320" y="5376672.0"/>
          <a:ext cx="6949440" cy="3310128.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274320" y="8778240"/>
            <a:ext cx="6949440" cy="1234440"/>
          </a:xfrm>
          <a:prstGeom prst="roundRect">
            <a:avLst/>
          </a:prstGeom>
          <a:solidFill>
            <a:srgbClr val="FFF7E6"/>
          </a:solidFill>
          <a:ln w="9525">
            <a:solidFill>
              <a:srgbClr val="ED7D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/>
            <a:r>
              <a:rPr sz="1100">
                <a:solidFill>
                  <a:srgbClr val="333333"/>
                </a:solidFill>
              </a:rPr>
              <a:t>➢  STAR has the highest Employees (On-roll) at 18,320.0</a:t>
            </a:r>
          </a:p>
          <a:p>
            <a:r>
              <a:rPr sz="1100">
                <a:solidFill>
                  <a:srgbClr val="333333"/>
                </a:solidFill>
              </a:rPr>
              <a:t>➢  STAR has the highest Individual Agents at 818,649.0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F3564"/>
                </a:solidFill>
              </a:rPr>
              <a:t>Competition Analysis FY26 Q3</a:t>
            </a:r>
          </a:p>
        </p:txBody>
      </p:sp>
      <p:pic>
        <p:nvPicPr>
          <p:cNvPr id="3" name="Picture 2" descr="NB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"/>
            <a:ext cx="687605" cy="411480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274320" y="566928"/>
            <a:ext cx="7013448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74320" y="777240"/>
            <a:ext cx="2926080" cy="457200"/>
          </a:xfrm>
          <a:prstGeom prst="round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Distribution Footprint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287000"/>
            <a:ext cx="7562088" cy="40233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i="1">
                <a:solidFill>
                  <a:srgbClr val="FFFFFF"/>
                </a:solidFill>
              </a:rPr>
              <a:t>Our Vision is, "To become India’s most admired Health Insurance Company"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0" y="10058400"/>
            <a:ext cx="914400" cy="292608"/>
          </a:xfrm>
          <a:prstGeom prst="roundRect">
            <a:avLst/>
          </a:prstGeom>
          <a:solidFill>
            <a:srgbClr val="8DB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Page |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417320"/>
            <a:ext cx="6949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/>
              <a:t>No. of Offices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74320" y="1691640"/>
          <a:ext cx="6949440" cy="23774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74320" y="4343400"/>
            <a:ext cx="6949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/>
              <a:t>Intermediaries by type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457200" y="4617720"/>
          <a:ext cx="6583680" cy="32004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274320" y="8778240"/>
            <a:ext cx="6949440" cy="1234440"/>
          </a:xfrm>
          <a:prstGeom prst="roundRect">
            <a:avLst/>
          </a:prstGeom>
          <a:solidFill>
            <a:srgbClr val="FFF7E6"/>
          </a:solidFill>
          <a:ln w="9525">
            <a:solidFill>
              <a:srgbClr val="ED7D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/>
            <a:r>
              <a:rPr sz="1100">
                <a:solidFill>
                  <a:srgbClr val="333333"/>
                </a:solidFill>
              </a:rPr>
              <a:t>➢  STAR has the highest office count at 918.0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F3564"/>
                </a:solidFill>
              </a:rPr>
              <a:t>Competition Analysis FY26 Q3</a:t>
            </a:r>
          </a:p>
        </p:txBody>
      </p:sp>
      <p:pic>
        <p:nvPicPr>
          <p:cNvPr id="3" name="Picture 2" descr="NB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"/>
            <a:ext cx="687605" cy="411480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274320" y="566928"/>
            <a:ext cx="7013448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74320" y="777240"/>
            <a:ext cx="2926080" cy="457200"/>
          </a:xfrm>
          <a:prstGeom prst="round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Glossary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287000"/>
            <a:ext cx="7562088" cy="40233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i="1">
                <a:solidFill>
                  <a:srgbClr val="FFFFFF"/>
                </a:solidFill>
              </a:rPr>
              <a:t>Our Vision is, "To become India’s most admired Health Insurance Company"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0" y="10058400"/>
            <a:ext cx="914400" cy="292608"/>
          </a:xfrm>
          <a:prstGeom prst="roundRect">
            <a:avLst/>
          </a:prstGeom>
          <a:solidFill>
            <a:srgbClr val="8DB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Page |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554480"/>
            <a:ext cx="69494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/>
              <a:t>➢  Above information is as per public disclosures available on IRDAI/company websites for the quarter ended 31 Dec 2025 (FY26 Q3), compared to the quarter ended 31 Dec 2024 (FY25 Q3).</a:t>
            </a:r>
          </a:p>
          <a:p>
            <a:pPr>
              <a:spcAft>
                <a:spcPts val="1000"/>
              </a:spcAft>
            </a:pPr>
            <a:r>
              <a:rPr sz="1100"/>
              <a:t>➢  SAHI = Stand-alone Health Insurer. GDPI = Gross Direct Premium Income. GWP = Gross Written Premium. NWP = Net Written Premium.</a:t>
            </a:r>
          </a:p>
          <a:p>
            <a:pPr>
              <a:spcAft>
                <a:spcPts val="1000"/>
              </a:spcAft>
            </a:pPr>
            <a:r>
              <a:rPr sz="1100"/>
              <a:t>➢  “Historical Trends” slides in this FY26 Q3 report show a 2-period (FY25 Q3 vs FY26 Q3) year-on-year comparison, not multi-year history - the underlying data pipeline currently carries only these 2 periods.</a:t>
            </a:r>
          </a:p>
          <a:p>
            <a:pPr>
              <a:spcAft>
                <a:spcPts val="1000"/>
              </a:spcAft>
            </a:pPr>
            <a:r>
              <a:rPr sz="1100"/>
              <a:t>➢  Slide 16's zone split (North/West/South) is derived from Slide 17's named-state data using the standard Ministry of Home Affairs zonal convention; East and Central exposure isn't separately identifiable from current source disclosures and is included in “Others (unclassified)”.</a:t>
            </a:r>
          </a:p>
          <a:p>
            <a:pPr>
              <a:spcAft>
                <a:spcPts val="1000"/>
              </a:spcAft>
            </a:pPr>
            <a:r>
              <a:rPr sz="1100"/>
              <a:t>➢  Slide 20's Average Claim Size and No. of claims to No. of policies are best-effort estimates, not independently GT-verified - Average Claim Size (Claims Incurred / Claims Settled) has previously landed ~10% off ground truth for at least one company; review before external use.</a:t>
            </a:r>
          </a:p>
          <a:p>
            <a:pPr>
              <a:spcAft>
                <a:spcPts val="1000"/>
              </a:spcAft>
            </a:pPr>
            <a:r>
              <a:rPr sz="1100"/>
              <a:t>➢  Company short names: NBHI = Niva Bupa Health Insurance, STAR = Star Health &amp; Allied Insurance, CARE = Care Health Insurance, CIGNA = ManipalCigna Health Insurance, ABHI = Aditya Birla Health Insurance, Narayana = Narayana Health Insurance, Galaxy = Galaxy Health Insurance.</a:t>
            </a:r>
          </a:p>
          <a:p>
            <a:pPr>
              <a:spcAft>
                <a:spcPts val="1000"/>
              </a:spcAft>
            </a:pPr>
            <a:r>
              <a:rPr sz="1100"/>
              <a:t>➢  This report was generated automatically from Data_Engine_UI.xlsx; insight bullets are rule-based auto-generated observations and should be reviewed before external use.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